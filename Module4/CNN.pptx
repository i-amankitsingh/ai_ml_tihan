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0" r:id="rId3"/>
    <p:sldId id="271" r:id="rId4"/>
    <p:sldId id="257" r:id="rId5"/>
    <p:sldId id="258" r:id="rId6"/>
    <p:sldId id="263" r:id="rId7"/>
    <p:sldId id="259" r:id="rId8"/>
    <p:sldId id="264" r:id="rId9"/>
    <p:sldId id="265" r:id="rId10"/>
    <p:sldId id="266" r:id="rId11"/>
    <p:sldId id="260" r:id="rId12"/>
    <p:sldId id="268" r:id="rId13"/>
    <p:sldId id="267" r:id="rId14"/>
    <p:sldId id="269" r:id="rId15"/>
    <p:sldId id="261" r:id="rId16"/>
    <p:sldId id="262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29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514053-C007-578B-E08B-E076FEC42D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0C39B2-AFBF-0AE3-1285-81C06782D3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237DE5-A1A3-32D5-B900-1CA262C05D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C3B66-A1AF-4DDF-B0A2-8FB49295004D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527410-DC4C-4AE4-8C12-BCA092056D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5B6069-55E1-BF2F-919A-7957022AD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4EB9A-E842-41AE-BDA9-42D2DD0BA3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4704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431BBE-5BC8-021D-7B45-520ABBA52E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CD2993-0B9C-3574-231C-B088CCEF62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D3D07C-CEFA-A5E8-B15B-7A8F687F21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C3B66-A1AF-4DDF-B0A2-8FB49295004D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39387A-E25B-F325-C0E5-9378060F48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290BA2-424C-EC34-7A77-80BA273871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4EB9A-E842-41AE-BDA9-42D2DD0BA3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36888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8BA56-B771-C1B9-55B2-8CAB3CE8F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D78FF3-181F-7255-35E4-F08B014AAB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C8A0CD-1B45-0681-6B98-E0F629B1A1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C3B66-A1AF-4DDF-B0A2-8FB49295004D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76A80F-9A68-6904-1C3B-E65BD3C13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05AF9D-CF6C-3359-0042-1EE76F833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4EB9A-E842-41AE-BDA9-42D2DD0BA3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56562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C0C327-F935-E4E5-177E-5390C8054C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38C674-FFCF-BC76-E567-0DF86391AE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D58325-915B-301B-8890-EE4AA0E240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778C84-8561-9D8A-9D71-1226ED7947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C3B66-A1AF-4DDF-B0A2-8FB49295004D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F6A38B-BCE5-DFDD-3720-57BFB814CE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E46042-0CC4-394E-5960-AC1D9D352F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4EB9A-E842-41AE-BDA9-42D2DD0BA3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76218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306864-B514-9995-1050-49A13E8E2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F5D217-602E-906D-E2E3-4B7848E1C1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14C862-649F-5DEC-148D-9F62D1AAF7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EE3478-F58F-7F42-21F5-F95E82826F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E9CAD1B-298A-D7E1-B52A-79BB1F4C00F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7281610-1313-CB9F-45AF-CB63A2A21C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C3B66-A1AF-4DDF-B0A2-8FB49295004D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2D09F5-24A8-270D-4C1D-C0F39546BC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62E4D60-3DFA-F617-7066-ADC6A8AE7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4EB9A-E842-41AE-BDA9-42D2DD0BA3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59576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89825B-C298-0B4F-C909-F64DBBB52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A2E475B-9A0F-D394-ED30-672043D933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C3B66-A1AF-4DDF-B0A2-8FB49295004D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2FF0A2-8D13-85F3-E19D-EC6CDF5A68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102AAC-56C3-78DB-207D-C882381E5C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4EB9A-E842-41AE-BDA9-42D2DD0BA3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07062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582890B-3A66-5ABE-90E8-34A0A8B6B3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C3B66-A1AF-4DDF-B0A2-8FB49295004D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5D2CE61-0A4B-BEF5-5EDE-C8B9E27A95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E64415-73C5-8984-137A-C210365179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4EB9A-E842-41AE-BDA9-42D2DD0BA3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0090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C5091D-FB24-6BAF-66DC-BD21552AF4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D3EDA1-ADAD-629F-4569-B00D6DF703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DCB051-D0A4-9F6F-673C-89BBD21284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220FBB-0935-2CDB-4E5E-B0FF47BE97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C3B66-A1AF-4DDF-B0A2-8FB49295004D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CFEA9A-8EF3-CD6A-5BB0-A3363AC0E5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D25D82-91B7-138F-C484-B561F1A6DD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4EB9A-E842-41AE-BDA9-42D2DD0BA3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68240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1A4C2-ACCD-4935-F01B-0862F8E227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E4F265F-8323-8BF6-2A4E-651A8AFC0C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B2B5BC-BB3A-D5C9-CC1C-7E6D4DD261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D4E389-0B3F-7217-F275-D769998D18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C3B66-A1AF-4DDF-B0A2-8FB49295004D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E699AC-64C0-50C5-5289-2F9CE15792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5F56E8-B45A-18CA-CF0C-ABF5A924E6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4EB9A-E842-41AE-BDA9-42D2DD0BA3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06271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8AE4B0-B7BB-0940-9E39-42D5082039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1AC6D4-0351-208D-4119-6699E30E9D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4A51D6-C23A-3F04-CC6A-232E11800F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C3B66-A1AF-4DDF-B0A2-8FB49295004D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492E72-03B8-F710-F5EC-430CA32BD7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96848E-7C02-9688-7A2D-8BA1AFB4FF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4EB9A-E842-41AE-BDA9-42D2DD0BA3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6083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584ABBA-AD44-E00B-30D1-504E2A9504F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E6BE5E-1BEC-8E51-A4C7-5916E97159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E4D143-E1C7-E51E-D93C-78453EB4CF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C3B66-A1AF-4DDF-B0A2-8FB49295004D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A7C5BB-2FF1-598A-86D9-E02197F6C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D1E5F8-21EB-9EF8-57DF-079078933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4EB9A-E842-41AE-BDA9-42D2DD0BA3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88326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F321D6-E5DD-F305-CDED-ECEC7D229F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660577-A4AD-B1B7-24B6-EB2F0E59DD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73E70B-7A13-F6D7-5220-0D09357AA6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BC3B66-A1AF-4DDF-B0A2-8FB49295004D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F71649-37FA-EB68-4A26-963E015D53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6CB499-ABD1-DE93-C7EF-1E8E4FE225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C4EB9A-E842-41AE-BDA9-42D2DD0BA3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36987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1BE034-1F25-309D-CA43-A37C3D741A0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CNN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87617C-88A5-F154-177B-8982DBBA1DC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65335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202C93-A458-8D46-C935-CAA04F4DAF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418230E-BF70-C6E3-1848-EB27800A64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49699" y="2418780"/>
            <a:ext cx="8865725" cy="3755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4190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BBF91-1934-8B71-3929-6DAFC5BA8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535386" cy="1325563"/>
          </a:xfrm>
        </p:spPr>
        <p:txBody>
          <a:bodyPr/>
          <a:lstStyle/>
          <a:p>
            <a:r>
              <a:rPr lang="en-US" dirty="0"/>
              <a:t>Example of convolution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D6C13E1-686C-F98A-80EE-BEDE74B2DD0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5012871" cy="4351338"/>
              </a:xfrm>
            </p:spPr>
            <p:txBody>
              <a:bodyPr>
                <a:normAutofit fontScale="62500" lnSpcReduction="20000"/>
              </a:bodyPr>
              <a:lstStyle/>
              <a:p>
                <a:r>
                  <a:rPr lang="en-US" b="1" dirty="0"/>
                  <a:t>Input Image (4×4)</a:t>
                </a:r>
              </a:p>
              <a:p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ar-AE"/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lang="ar-AE"/>
                            </m:ctrlPr>
                          </m:mPr>
                          <m:mr>
                            <m:e>
                              <m:r>
                                <a:rPr lang="ar-AE"/>
                                <m:t>1</m:t>
                              </m:r>
                            </m:e>
                            <m:e>
                              <m:r>
                                <a:rPr lang="ar-AE"/>
                                <m:t>2</m:t>
                              </m:r>
                            </m:e>
                            <m:e>
                              <m:r>
                                <a:rPr lang="ar-AE"/>
                                <m:t>3</m:t>
                              </m:r>
                            </m:e>
                            <m:e>
                              <m:r>
                                <a:rPr lang="ar-AE"/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ar-AE"/>
                                <m:t>4</m:t>
                              </m:r>
                            </m:e>
                            <m:e>
                              <m:r>
                                <a:rPr lang="ar-AE"/>
                                <m:t>5</m:t>
                              </m:r>
                            </m:e>
                            <m:e>
                              <m:r>
                                <a:rPr lang="ar-AE"/>
                                <m:t>6</m:t>
                              </m:r>
                            </m:e>
                            <m:e>
                              <m:r>
                                <a:rPr lang="ar-AE"/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ar-AE"/>
                                <m:t>7</m:t>
                              </m:r>
                            </m:e>
                            <m:e>
                              <m:r>
                                <a:rPr lang="ar-AE"/>
                                <m:t>8</m:t>
                              </m:r>
                            </m:e>
                            <m:e>
                              <m:r>
                                <a:rPr lang="ar-AE"/>
                                <m:t>9</m:t>
                              </m:r>
                            </m:e>
                            <m:e>
                              <m:r>
                                <a:rPr lang="ar-AE"/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ar-AE"/>
                                <m:t>1</m:t>
                              </m:r>
                            </m:e>
                            <m:e>
                              <m:r>
                                <a:rPr lang="ar-AE"/>
                                <m:t>2</m:t>
                              </m:r>
                            </m:e>
                            <m:e>
                              <m:r>
                                <a:rPr lang="ar-AE"/>
                                <m:t>3</m:t>
                              </m:r>
                            </m:e>
                            <m:e>
                              <m:r>
                                <a:rPr lang="ar-AE"/>
                                <m:t>4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ar-AE" dirty="0"/>
              </a:p>
              <a:p>
                <a:r>
                  <a:rPr lang="en-US" b="1" dirty="0"/>
                  <a:t>Filter / Kernel (2×2)</a:t>
                </a:r>
              </a:p>
              <a:p>
                <a:pPr/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dirty="0"/>
              </a:p>
              <a:p>
                <a:r>
                  <a:rPr lang="en-US" b="1" dirty="0"/>
                  <a:t>Position (top-left corner):</a:t>
                </a:r>
              </a:p>
              <a:p>
                <a:r>
                  <a:rPr lang="en-US" dirty="0"/>
                  <a:t>Image patch:</a:t>
                </a:r>
              </a:p>
              <a:p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ar-AE"/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ar-AE"/>
                            </m:ctrlPr>
                          </m:mPr>
                          <m:mr>
                            <m:e>
                              <m:r>
                                <a:rPr lang="ar-AE"/>
                                <m:t>1</m:t>
                              </m:r>
                            </m:e>
                            <m:e>
                              <m:r>
                                <a:rPr lang="ar-AE"/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ar-AE"/>
                                <m:t>4</m:t>
                              </m:r>
                            </m:e>
                            <m:e>
                              <m:r>
                                <a:rPr lang="ar-AE"/>
                                <m:t>5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ar-AE" dirty="0"/>
              </a:p>
              <a:p>
                <a:r>
                  <a:rPr lang="en-US" dirty="0"/>
                  <a:t>Apply filter:</a:t>
                </a:r>
              </a:p>
              <a:p>
                <a14:m>
                  <m:oMath xmlns:m="http://schemas.openxmlformats.org/officeDocument/2006/math">
                    <m:r>
                      <a:rPr lang="en-US"/>
                      <m:t>1</m:t>
                    </m:r>
                    <m:r>
                      <a:rPr lang="en-US"/>
                      <m:t>⋅</m:t>
                    </m:r>
                    <m:r>
                      <a:rPr lang="en-US"/>
                      <m:t>1</m:t>
                    </m:r>
                    <m:r>
                      <a:rPr lang="en-US"/>
                      <m:t>+</m:t>
                    </m:r>
                    <m:r>
                      <a:rPr lang="en-US"/>
                      <m:t>2</m:t>
                    </m:r>
                    <m:r>
                      <a:rPr lang="en-US"/>
                      <m:t>⋅</m:t>
                    </m:r>
                    <m:r>
                      <a:rPr lang="en-US"/>
                      <m:t>0</m:t>
                    </m:r>
                    <m:r>
                      <a:rPr lang="en-US"/>
                      <m:t>+</m:t>
                    </m:r>
                    <m:r>
                      <a:rPr lang="en-US"/>
                      <m:t>4</m:t>
                    </m:r>
                    <m:r>
                      <a:rPr lang="en-US"/>
                      <m:t>⋅</m:t>
                    </m:r>
                    <m:r>
                      <a:rPr lang="en-US"/>
                      <m:t>0</m:t>
                    </m:r>
                    <m:r>
                      <a:rPr lang="en-US"/>
                      <m:t>+</m:t>
                    </m:r>
                    <m:r>
                      <a:rPr lang="en-US"/>
                      <m:t>5</m:t>
                    </m:r>
                    <m:r>
                      <a:rPr lang="en-US"/>
                      <m:t>⋅</m:t>
                    </m:r>
                    <m:d>
                      <m:dPr>
                        <m:ctrlPr>
                          <a:rPr lang="ar-AE" i="1"/>
                        </m:ctrlPr>
                      </m:dPr>
                      <m:e>
                        <m:r>
                          <a:rPr lang="ar-AE"/>
                          <m:t>−</m:t>
                        </m:r>
                        <m:r>
                          <a:rPr lang="ar-AE"/>
                          <m:t>1</m:t>
                        </m:r>
                      </m:e>
                    </m:d>
                    <m:r>
                      <a:rPr lang="ar-AE"/>
                      <m:t>=</m:t>
                    </m:r>
                    <m:r>
                      <a:rPr lang="ar-AE"/>
                      <m:t>1</m:t>
                    </m:r>
                    <m:r>
                      <a:rPr lang="ar-AE"/>
                      <m:t>−</m:t>
                    </m:r>
                    <m:r>
                      <a:rPr lang="ar-AE"/>
                      <m:t>5</m:t>
                    </m:r>
                    <m:r>
                      <a:rPr lang="ar-AE"/>
                      <m:t>=−</m:t>
                    </m:r>
                    <m:r>
                      <a:rPr lang="ar-AE"/>
                      <m:t>4</m:t>
                    </m:r>
                  </m:oMath>
                </a14:m>
                <a:endParaRPr lang="ar-AE" dirty="0"/>
              </a:p>
              <a:p>
                <a:endParaRPr lang="ar-AE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D6C13E1-686C-F98A-80EE-BEDE74B2DD0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5012871" cy="4351338"/>
              </a:xfrm>
              <a:blipFill>
                <a:blip r:embed="rId2"/>
                <a:stretch>
                  <a:fillRect l="-852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E19971A-F0C0-42CF-0068-6F48A1CAADA4}"/>
                  </a:ext>
                </a:extLst>
              </p:cNvPr>
              <p:cNvSpPr txBox="1"/>
              <p:nvPr/>
            </p:nvSpPr>
            <p:spPr>
              <a:xfrm>
                <a:off x="6553200" y="716417"/>
                <a:ext cx="5110843" cy="59958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/>
                  <a:t>Next position (shift right by 1):</a:t>
                </a:r>
              </a:p>
              <a:p>
                <a:r>
                  <a:rPr lang="en-US" dirty="0"/>
                  <a:t>Image patch: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ar-AE"/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ar-AE"/>
                              </m:ctrlPr>
                            </m:mPr>
                            <m:mr>
                              <m:e>
                                <m:r>
                                  <a:rPr lang="ar-AE"/>
                                  <m:t>2</m:t>
                                </m:r>
                              </m:e>
                              <m:e>
                                <m:r>
                                  <a:rPr lang="ar-AE"/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ar-AE"/>
                                  <m:t>5</m:t>
                                </m:r>
                              </m:e>
                              <m:e>
                                <m:r>
                                  <a:rPr lang="ar-AE"/>
                                  <m:t>6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ar-AE" dirty="0"/>
              </a:p>
              <a:p>
                <a:r>
                  <a:rPr lang="en-US" dirty="0"/>
                  <a:t>Apply filter: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/>
                        <m:t>2</m:t>
                      </m:r>
                      <m:r>
                        <a:rPr lang="en-US"/>
                        <m:t>⋅</m:t>
                      </m:r>
                      <m:r>
                        <a:rPr lang="en-US"/>
                        <m:t>1</m:t>
                      </m:r>
                      <m:r>
                        <a:rPr lang="en-US"/>
                        <m:t>+</m:t>
                      </m:r>
                      <m:r>
                        <a:rPr lang="en-US"/>
                        <m:t>3</m:t>
                      </m:r>
                      <m:r>
                        <a:rPr lang="en-US"/>
                        <m:t>⋅</m:t>
                      </m:r>
                      <m:r>
                        <a:rPr lang="en-US"/>
                        <m:t>0</m:t>
                      </m:r>
                      <m:r>
                        <a:rPr lang="en-US"/>
                        <m:t>+</m:t>
                      </m:r>
                      <m:r>
                        <a:rPr lang="en-US"/>
                        <m:t>5</m:t>
                      </m:r>
                      <m:r>
                        <a:rPr lang="en-US"/>
                        <m:t>⋅</m:t>
                      </m:r>
                      <m:r>
                        <a:rPr lang="en-US"/>
                        <m:t>0</m:t>
                      </m:r>
                      <m:r>
                        <a:rPr lang="en-US"/>
                        <m:t>+</m:t>
                      </m:r>
                      <m:r>
                        <a:rPr lang="en-US"/>
                        <m:t>6</m:t>
                      </m:r>
                      <m:r>
                        <a:rPr lang="en-US"/>
                        <m:t>⋅</m:t>
                      </m:r>
                      <m:d>
                        <m:dPr>
                          <m:ctrlPr>
                            <a:rPr lang="ar-AE" i="1"/>
                          </m:ctrlPr>
                        </m:dPr>
                        <m:e>
                          <m:r>
                            <a:rPr lang="ar-AE"/>
                            <m:t>−</m:t>
                          </m:r>
                          <m:r>
                            <a:rPr lang="ar-AE"/>
                            <m:t>1</m:t>
                          </m:r>
                        </m:e>
                      </m:d>
                      <m:r>
                        <a:rPr lang="ar-AE"/>
                        <m:t>=</m:t>
                      </m:r>
                      <m:r>
                        <a:rPr lang="ar-AE"/>
                        <m:t>2</m:t>
                      </m:r>
                      <m:r>
                        <a:rPr lang="ar-AE"/>
                        <m:t>−</m:t>
                      </m:r>
                      <m:r>
                        <a:rPr lang="ar-AE"/>
                        <m:t>6</m:t>
                      </m:r>
                      <m:r>
                        <a:rPr lang="ar-AE"/>
                        <m:t>=−</m:t>
                      </m:r>
                      <m:r>
                        <a:rPr lang="ar-AE"/>
                        <m:t>4</m:t>
                      </m:r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Continue sliding over the entire image…</a:t>
                </a:r>
              </a:p>
              <a:p>
                <a:endParaRPr lang="en-US" dirty="0"/>
              </a:p>
              <a:p>
                <a:r>
                  <a:rPr lang="en-US" b="1" dirty="0"/>
                  <a:t>Final Output Feature Map (3×3)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ar-AE"/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ar-AE"/>
                              </m:ctrlPr>
                            </m:mPr>
                            <m:mr>
                              <m:e>
                                <m:r>
                                  <a:rPr lang="ar-AE"/>
                                  <m:t>−</m:t>
                                </m:r>
                                <m:r>
                                  <a:rPr lang="ar-AE"/>
                                  <m:t>4</m:t>
                                </m:r>
                              </m:e>
                              <m:e>
                                <m:r>
                                  <a:rPr lang="ar-AE"/>
                                  <m:t>−</m:t>
                                </m:r>
                                <m:r>
                                  <a:rPr lang="ar-AE"/>
                                  <m:t>4</m:t>
                                </m:r>
                              </m:e>
                              <m:e>
                                <m:r>
                                  <a:rPr lang="ar-AE"/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ar-AE"/>
                                  <m:t>−</m:t>
                                </m:r>
                                <m:r>
                                  <a:rPr lang="ar-AE"/>
                                  <m:t>4</m:t>
                                </m:r>
                              </m:e>
                              <m:e>
                                <m:r>
                                  <a:rPr lang="ar-AE"/>
                                  <m:t>−</m:t>
                                </m:r>
                                <m:r>
                                  <a:rPr lang="ar-AE"/>
                                  <m:t>4</m:t>
                                </m:r>
                              </m:e>
                              <m:e>
                                <m:r>
                                  <a:rPr lang="ar-AE"/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ar-AE"/>
                                  <m:t>6</m:t>
                                </m:r>
                              </m:e>
                              <m:e>
                                <m:r>
                                  <a:rPr lang="ar-AE"/>
                                  <m:t>6</m:t>
                                </m:r>
                              </m:e>
                              <m:e>
                                <m:r>
                                  <a:rPr lang="ar-AE"/>
                                  <m:t>−</m:t>
                                </m:r>
                                <m:r>
                                  <a:rPr lang="ar-AE"/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ar-AE" dirty="0"/>
              </a:p>
              <a:p>
                <a:br>
                  <a:rPr lang="ar-AE" dirty="0"/>
                </a:br>
                <a:endParaRPr lang="ar-AE" dirty="0"/>
              </a:p>
              <a:p>
                <a:r>
                  <a:rPr lang="en-US" b="1" dirty="0"/>
                  <a:t>Why output is 3×3?</a:t>
                </a:r>
              </a:p>
              <a:p>
                <a:r>
                  <a:rPr lang="en-US" dirty="0"/>
                  <a:t>Formula: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b="0"/>
                        <m:t>Output</m:t>
                      </m:r>
                      <m:r>
                        <m:rPr>
                          <m:nor/>
                        </m:rPr>
                        <a:rPr lang="en-US" b="0" i="1"/>
                        <m:t> </m:t>
                      </m:r>
                      <m:r>
                        <m:rPr>
                          <m:nor/>
                        </m:rPr>
                        <a:rPr lang="en-US" b="0" i="1"/>
                        <m:t>size</m:t>
                      </m:r>
                      <m:r>
                        <a:rPr lang="en-US"/>
                        <m:t>=</m:t>
                      </m:r>
                      <m:d>
                        <m:dPr>
                          <m:ctrlPr>
                            <a:rPr lang="ar-AE" i="1"/>
                          </m:ctrlPr>
                        </m:dPr>
                        <m:e>
                          <m:r>
                            <a:rPr lang="ar-AE" i="1"/>
                            <m:t>𝑛</m:t>
                          </m:r>
                          <m:r>
                            <a:rPr lang="ar-AE"/>
                            <m:t>−</m:t>
                          </m:r>
                          <m:r>
                            <a:rPr lang="ar-AE" i="1"/>
                            <m:t>𝑓</m:t>
                          </m:r>
                          <m:r>
                            <a:rPr lang="ar-AE"/>
                            <m:t>+</m:t>
                          </m:r>
                          <m:r>
                            <a:rPr lang="ar-AE"/>
                            <m:t>1</m:t>
                          </m:r>
                        </m:e>
                      </m:d>
                      <m:r>
                        <a:rPr lang="ar-AE"/>
                        <m:t>×</m:t>
                      </m:r>
                      <m:d>
                        <m:dPr>
                          <m:ctrlPr>
                            <a:rPr lang="ar-AE" i="1"/>
                          </m:ctrlPr>
                        </m:dPr>
                        <m:e>
                          <m:r>
                            <a:rPr lang="ar-AE" i="1"/>
                            <m:t>𝑛</m:t>
                          </m:r>
                          <m:r>
                            <a:rPr lang="ar-AE"/>
                            <m:t>−</m:t>
                          </m:r>
                          <m:r>
                            <a:rPr lang="ar-AE" i="1"/>
                            <m:t>𝑓</m:t>
                          </m:r>
                          <m:r>
                            <a:rPr lang="ar-AE"/>
                            <m:t>+</m:t>
                          </m:r>
                          <m:r>
                            <a:rPr lang="ar-AE"/>
                            <m:t>1</m:t>
                          </m:r>
                        </m:e>
                      </m:d>
                    </m:oMath>
                  </m:oMathPara>
                </a14:m>
                <a:endParaRPr lang="ar-AE" b="0" dirty="0"/>
              </a:p>
              <a:p>
                <a:r>
                  <a:rPr lang="en-US" dirty="0"/>
                  <a:t>For 4×4 image and 2×2 filter: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ar-AE"/>
                          </m:ctrlPr>
                        </m:dPr>
                        <m:e>
                          <m:r>
                            <a:rPr lang="ar-AE"/>
                            <m:t>4</m:t>
                          </m:r>
                          <m:r>
                            <a:rPr lang="ar-AE"/>
                            <m:t>−</m:t>
                          </m:r>
                          <m:r>
                            <a:rPr lang="ar-AE"/>
                            <m:t>2</m:t>
                          </m:r>
                          <m:r>
                            <a:rPr lang="ar-AE"/>
                            <m:t>+</m:t>
                          </m:r>
                          <m:r>
                            <a:rPr lang="ar-AE"/>
                            <m:t>1</m:t>
                          </m:r>
                        </m:e>
                      </m:d>
                      <m:r>
                        <a:rPr lang="ar-AE"/>
                        <m:t>=</m:t>
                      </m:r>
                      <m:r>
                        <a:rPr lang="ar-AE"/>
                        <m:t>3</m:t>
                      </m:r>
                      <m:r>
                        <a:rPr lang="ar-AE"/>
                        <m:t>⇒</m:t>
                      </m:r>
                      <m:r>
                        <m:rPr>
                          <m:nor/>
                        </m:rPr>
                        <a:rPr lang="en-US" i="1"/>
                        <m:t>Output</m:t>
                      </m:r>
                      <m:r>
                        <m:rPr>
                          <m:nor/>
                        </m:rPr>
                        <a:rPr lang="en-US" i="1"/>
                        <m:t> </m:t>
                      </m:r>
                      <m:r>
                        <m:rPr>
                          <m:nor/>
                        </m:rPr>
                        <a:rPr lang="en-US" i="1"/>
                        <m:t>is</m:t>
                      </m:r>
                      <m:r>
                        <m:rPr>
                          <m:nor/>
                        </m:rPr>
                        <a:rPr lang="en-US" i="1"/>
                        <m:t> </m:t>
                      </m:r>
                      <m:r>
                        <a:rPr lang="en-US"/>
                        <m:t>3</m:t>
                      </m:r>
                      <m:r>
                        <a:rPr lang="en-US"/>
                        <m:t>×</m:t>
                      </m:r>
                      <m:r>
                        <a:rPr lang="en-US"/>
                        <m:t>3</m:t>
                      </m:r>
                    </m:oMath>
                  </m:oMathPara>
                </a14:m>
                <a:endParaRPr lang="en-US" b="0" dirty="0"/>
              </a:p>
              <a:p>
                <a:endParaRPr lang="ar-AE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E19971A-F0C0-42CF-0068-6F48A1CAAD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3200" y="716417"/>
                <a:ext cx="5110843" cy="5995872"/>
              </a:xfrm>
              <a:prstGeom prst="rect">
                <a:avLst/>
              </a:prstGeom>
              <a:blipFill>
                <a:blip r:embed="rId3"/>
                <a:stretch>
                  <a:fillRect l="-955" t="-6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429847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D0D4A9EF-0DC2-2E29-ED5E-37F2F0774B2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80309228"/>
              </p:ext>
            </p:extLst>
          </p:nvPr>
        </p:nvGraphicFramePr>
        <p:xfrm>
          <a:off x="1103671" y="1747249"/>
          <a:ext cx="10515600" cy="256032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2815830878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257938842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13325316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Model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Year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Purpose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80369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LeNet-5</a:t>
                      </a:r>
                      <a:endParaRPr lang="en-US" dirty="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1998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Handwritten digit recognition (MNIST)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57553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 err="1"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AlexNet</a:t>
                      </a:r>
                      <a:endParaRPr lang="en-US" dirty="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2012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Large-scale ImageNet classification (1.2M images)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30427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VGG-16/19</a:t>
                      </a:r>
                      <a:endParaRPr lang="en-US" dirty="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2014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Deeper CNN for ImageNet with simple 3×3 convolution rule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51162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216099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626DC-2CE8-BD9C-8939-96FCC7B615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LeNet-5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C85EA0-AB14-0477-A3ED-7FD40F6A9A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213" y="1757028"/>
            <a:ext cx="5257800" cy="4351338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Very small and simple network.</a:t>
            </a:r>
          </a:p>
          <a:p>
            <a:r>
              <a:rPr lang="en-US" dirty="0"/>
              <a:t>Helped establish how we use CNNs today •</a:t>
            </a:r>
          </a:p>
          <a:p>
            <a:r>
              <a:rPr lang="en-US" dirty="0"/>
              <a:t>Replaced manual feature extraction</a:t>
            </a:r>
          </a:p>
          <a:p>
            <a:r>
              <a:rPr lang="en-US" dirty="0"/>
              <a:t>Designed for 28×28 grayscale images.</a:t>
            </a:r>
          </a:p>
          <a:p>
            <a:r>
              <a:rPr lang="en-US" dirty="0"/>
              <a:t>Architecture:</a:t>
            </a:r>
          </a:p>
          <a:p>
            <a:pPr lvl="1"/>
            <a:r>
              <a:rPr lang="en-US" dirty="0"/>
              <a:t>Conv → Pool → Conv → Pool → FC → FC → </a:t>
            </a:r>
            <a:r>
              <a:rPr lang="en-US" dirty="0" err="1"/>
              <a:t>Softmax</a:t>
            </a:r>
            <a:endParaRPr lang="en-US" dirty="0"/>
          </a:p>
          <a:p>
            <a:r>
              <a:rPr lang="en-US" dirty="0"/>
              <a:t>Convolution kernels: 5×5</a:t>
            </a:r>
          </a:p>
          <a:p>
            <a:r>
              <a:rPr lang="en-US" dirty="0"/>
              <a:t>Total parameters: ~60,000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736CA80-2798-7327-3DC7-F537E34EA8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840"/>
          <a:stretch>
            <a:fillRect/>
          </a:stretch>
        </p:blipFill>
        <p:spPr>
          <a:xfrm>
            <a:off x="6096000" y="2566218"/>
            <a:ext cx="6079325" cy="2732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45245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9DD00-BDBD-1653-DE58-9CB30BBA86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LeNet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A6DD601-7A68-3170-FB17-C735A73E87B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87965884"/>
              </p:ext>
            </p:extLst>
          </p:nvPr>
        </p:nvGraphicFramePr>
        <p:xfrm>
          <a:off x="2466205" y="1785125"/>
          <a:ext cx="6807305" cy="4556322"/>
        </p:xfrm>
        <a:graphic>
          <a:graphicData uri="http://schemas.openxmlformats.org/drawingml/2006/table">
            <a:tbl>
              <a:tblPr/>
              <a:tblGrid>
                <a:gridCol w="698185">
                  <a:extLst>
                    <a:ext uri="{9D8B030D-6E8A-4147-A177-3AD203B41FA5}">
                      <a16:colId xmlns:a16="http://schemas.microsoft.com/office/drawing/2014/main" val="2206496254"/>
                    </a:ext>
                  </a:extLst>
                </a:gridCol>
                <a:gridCol w="1221824">
                  <a:extLst>
                    <a:ext uri="{9D8B030D-6E8A-4147-A177-3AD203B41FA5}">
                      <a16:colId xmlns:a16="http://schemas.microsoft.com/office/drawing/2014/main" val="2325260482"/>
                    </a:ext>
                  </a:extLst>
                </a:gridCol>
                <a:gridCol w="1221824">
                  <a:extLst>
                    <a:ext uri="{9D8B030D-6E8A-4147-A177-3AD203B41FA5}">
                      <a16:colId xmlns:a16="http://schemas.microsoft.com/office/drawing/2014/main" val="2175956345"/>
                    </a:ext>
                  </a:extLst>
                </a:gridCol>
                <a:gridCol w="1221824">
                  <a:extLst>
                    <a:ext uri="{9D8B030D-6E8A-4147-A177-3AD203B41FA5}">
                      <a16:colId xmlns:a16="http://schemas.microsoft.com/office/drawing/2014/main" val="3352535085"/>
                    </a:ext>
                  </a:extLst>
                </a:gridCol>
                <a:gridCol w="1221824">
                  <a:extLst>
                    <a:ext uri="{9D8B030D-6E8A-4147-A177-3AD203B41FA5}">
                      <a16:colId xmlns:a16="http://schemas.microsoft.com/office/drawing/2014/main" val="2803000407"/>
                    </a:ext>
                  </a:extLst>
                </a:gridCol>
                <a:gridCol w="1221824">
                  <a:extLst>
                    <a:ext uri="{9D8B030D-6E8A-4147-A177-3AD203B41FA5}">
                      <a16:colId xmlns:a16="http://schemas.microsoft.com/office/drawing/2014/main" val="2396492873"/>
                    </a:ext>
                  </a:extLst>
                </a:gridCol>
              </a:tblGrid>
              <a:tr h="236776">
                <a:tc>
                  <a:txBody>
                    <a:bodyPr/>
                    <a:lstStyle/>
                    <a:p>
                      <a:pPr algn="ctr" rtl="0" fontAlgn="base">
                        <a:spcAft>
                          <a:spcPts val="750"/>
                        </a:spcAft>
                        <a:buNone/>
                      </a:pPr>
                      <a:r>
                        <a:rPr lang="en-US" sz="1200" b="1">
                          <a:effectLst/>
                        </a:rPr>
                        <a:t>Layer</a:t>
                      </a:r>
                    </a:p>
                  </a:txBody>
                  <a:tcPr marL="24664" marR="24664" marT="49328" marB="493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spcAft>
                          <a:spcPts val="750"/>
                        </a:spcAft>
                        <a:buNone/>
                      </a:pPr>
                      <a:r>
                        <a:rPr lang="en-US" sz="1200" b="1">
                          <a:effectLst/>
                        </a:rPr>
                        <a:t>Feature Map</a:t>
                      </a:r>
                    </a:p>
                  </a:txBody>
                  <a:tcPr marL="49328" marR="49328" marT="49328" marB="493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spcAft>
                          <a:spcPts val="750"/>
                        </a:spcAft>
                        <a:buNone/>
                      </a:pPr>
                      <a:r>
                        <a:rPr lang="en-US" sz="1200" b="1">
                          <a:effectLst/>
                        </a:rPr>
                        <a:t>Size</a:t>
                      </a:r>
                    </a:p>
                  </a:txBody>
                  <a:tcPr marL="49328" marR="49328" marT="49328" marB="493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spcAft>
                          <a:spcPts val="750"/>
                        </a:spcAft>
                        <a:buNone/>
                      </a:pPr>
                      <a:r>
                        <a:rPr lang="en-US" sz="1200" b="1">
                          <a:effectLst/>
                        </a:rPr>
                        <a:t>Kernel Size</a:t>
                      </a:r>
                    </a:p>
                  </a:txBody>
                  <a:tcPr marL="49328" marR="49328" marT="49328" marB="493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spcAft>
                          <a:spcPts val="750"/>
                        </a:spcAft>
                        <a:buNone/>
                      </a:pPr>
                      <a:r>
                        <a:rPr lang="en-US" sz="1200" b="1">
                          <a:effectLst/>
                        </a:rPr>
                        <a:t>Stride</a:t>
                      </a:r>
                    </a:p>
                  </a:txBody>
                  <a:tcPr marL="49328" marR="49328" marT="49328" marB="493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spcAft>
                          <a:spcPts val="750"/>
                        </a:spcAft>
                        <a:buNone/>
                      </a:pPr>
                      <a:r>
                        <a:rPr lang="en-US" sz="1200" b="1">
                          <a:effectLst/>
                        </a:rPr>
                        <a:t>Activation</a:t>
                      </a:r>
                    </a:p>
                  </a:txBody>
                  <a:tcPr marL="49328" marR="49328" marT="49328" marB="493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6892746"/>
                  </a:ext>
                </a:extLst>
              </a:tr>
              <a:tr h="423602">
                <a:tc>
                  <a:txBody>
                    <a:bodyPr/>
                    <a:lstStyle/>
                    <a:p>
                      <a:pPr algn="ctr" rtl="0" fontAlgn="base">
                        <a:spcAft>
                          <a:spcPts val="750"/>
                        </a:spcAft>
                        <a:buNone/>
                      </a:pPr>
                      <a:r>
                        <a:rPr lang="en-US" sz="1200" b="1">
                          <a:effectLst/>
                        </a:rPr>
                        <a:t>Input - Image</a:t>
                      </a:r>
                    </a:p>
                  </a:txBody>
                  <a:tcPr marL="24664" marR="24664" marT="34219" marB="342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spcAft>
                          <a:spcPts val="750"/>
                        </a:spcAft>
                        <a:buNone/>
                      </a:pPr>
                      <a:r>
                        <a:rPr lang="en-US" sz="1200" b="0">
                          <a:effectLst/>
                        </a:rPr>
                        <a:t>1</a:t>
                      </a:r>
                    </a:p>
                  </a:txBody>
                  <a:tcPr marL="49328" marR="49328" marT="69060" marB="690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spcAft>
                          <a:spcPts val="750"/>
                        </a:spcAft>
                        <a:buNone/>
                      </a:pPr>
                      <a:r>
                        <a:rPr lang="en-US" sz="1200" b="0">
                          <a:effectLst/>
                        </a:rPr>
                        <a:t>32 X 32</a:t>
                      </a:r>
                    </a:p>
                  </a:txBody>
                  <a:tcPr marL="49328" marR="49328" marT="69060" marB="690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spcAft>
                          <a:spcPts val="750"/>
                        </a:spcAft>
                        <a:buNone/>
                      </a:pPr>
                      <a:r>
                        <a:rPr lang="en-US" sz="1200" b="0">
                          <a:effectLst/>
                        </a:rPr>
                        <a:t>-</a:t>
                      </a:r>
                    </a:p>
                  </a:txBody>
                  <a:tcPr marL="49328" marR="49328" marT="69060" marB="690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spcAft>
                          <a:spcPts val="750"/>
                        </a:spcAft>
                        <a:buNone/>
                      </a:pPr>
                      <a:r>
                        <a:rPr lang="en-US" sz="1200" b="0">
                          <a:effectLst/>
                        </a:rPr>
                        <a:t>-</a:t>
                      </a:r>
                    </a:p>
                  </a:txBody>
                  <a:tcPr marL="49328" marR="49328" marT="69060" marB="690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spcAft>
                          <a:spcPts val="750"/>
                        </a:spcAft>
                        <a:buNone/>
                      </a:pPr>
                      <a:r>
                        <a:rPr lang="en-US" sz="1200" b="0">
                          <a:effectLst/>
                        </a:rPr>
                        <a:t>-</a:t>
                      </a:r>
                    </a:p>
                  </a:txBody>
                  <a:tcPr marL="49328" marR="49328" marT="69060" marB="690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6634061"/>
                  </a:ext>
                </a:extLst>
              </a:tr>
              <a:tr h="601184">
                <a:tc>
                  <a:txBody>
                    <a:bodyPr/>
                    <a:lstStyle/>
                    <a:p>
                      <a:pPr algn="ctr" rtl="0" fontAlgn="base">
                        <a:spcAft>
                          <a:spcPts val="750"/>
                        </a:spcAft>
                        <a:buNone/>
                      </a:pPr>
                      <a:r>
                        <a:rPr lang="en-US" sz="1200" b="1">
                          <a:effectLst/>
                        </a:rPr>
                        <a:t>1 - Convolution</a:t>
                      </a:r>
                    </a:p>
                  </a:txBody>
                  <a:tcPr marL="24664" marR="24664" marT="34219" marB="342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spcAft>
                          <a:spcPts val="750"/>
                        </a:spcAft>
                        <a:buNone/>
                      </a:pPr>
                      <a:r>
                        <a:rPr lang="en-US" sz="1200" b="0">
                          <a:effectLst/>
                        </a:rPr>
                        <a:t>6</a:t>
                      </a:r>
                    </a:p>
                  </a:txBody>
                  <a:tcPr marL="49328" marR="49328" marT="69060" marB="690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spcAft>
                          <a:spcPts val="750"/>
                        </a:spcAft>
                        <a:buNone/>
                      </a:pPr>
                      <a:r>
                        <a:rPr lang="en-US" sz="1200" b="0">
                          <a:effectLst/>
                        </a:rPr>
                        <a:t>28 X 28</a:t>
                      </a:r>
                    </a:p>
                  </a:txBody>
                  <a:tcPr marL="49328" marR="49328" marT="69060" marB="690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spcAft>
                          <a:spcPts val="750"/>
                        </a:spcAft>
                        <a:buNone/>
                      </a:pPr>
                      <a:r>
                        <a:rPr lang="en-US" sz="1200" b="0">
                          <a:effectLst/>
                        </a:rPr>
                        <a:t>5 X 5</a:t>
                      </a:r>
                    </a:p>
                  </a:txBody>
                  <a:tcPr marL="49328" marR="49328" marT="69060" marB="690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spcAft>
                          <a:spcPts val="750"/>
                        </a:spcAft>
                        <a:buNone/>
                      </a:pPr>
                      <a:r>
                        <a:rPr lang="en-US" sz="1200" b="0">
                          <a:effectLst/>
                        </a:rPr>
                        <a:t>1</a:t>
                      </a:r>
                    </a:p>
                  </a:txBody>
                  <a:tcPr marL="49328" marR="49328" marT="69060" marB="690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spcAft>
                          <a:spcPts val="750"/>
                        </a:spcAft>
                        <a:buNone/>
                      </a:pPr>
                      <a:r>
                        <a:rPr lang="en-US" sz="1200" b="0">
                          <a:effectLst/>
                        </a:rPr>
                        <a:t>tanh</a:t>
                      </a:r>
                    </a:p>
                  </a:txBody>
                  <a:tcPr marL="49328" marR="49328" marT="69060" marB="690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7001895"/>
                  </a:ext>
                </a:extLst>
              </a:tr>
              <a:tr h="601184">
                <a:tc>
                  <a:txBody>
                    <a:bodyPr/>
                    <a:lstStyle/>
                    <a:p>
                      <a:pPr algn="ctr" rtl="0" fontAlgn="base">
                        <a:spcAft>
                          <a:spcPts val="750"/>
                        </a:spcAft>
                        <a:buNone/>
                      </a:pPr>
                      <a:r>
                        <a:rPr lang="en-US" sz="1200" b="1">
                          <a:effectLst/>
                        </a:rPr>
                        <a:t>2 - Average Pooling</a:t>
                      </a:r>
                    </a:p>
                  </a:txBody>
                  <a:tcPr marL="24664" marR="24664" marT="34219" marB="342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spcAft>
                          <a:spcPts val="750"/>
                        </a:spcAft>
                        <a:buNone/>
                      </a:pPr>
                      <a:r>
                        <a:rPr lang="en-US" sz="1200" b="0">
                          <a:effectLst/>
                        </a:rPr>
                        <a:t>6</a:t>
                      </a:r>
                    </a:p>
                  </a:txBody>
                  <a:tcPr marL="49328" marR="49328" marT="69060" marB="690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spcAft>
                          <a:spcPts val="750"/>
                        </a:spcAft>
                        <a:buNone/>
                      </a:pPr>
                      <a:r>
                        <a:rPr lang="en-US" sz="1200" b="0">
                          <a:effectLst/>
                        </a:rPr>
                        <a:t>14 X 14</a:t>
                      </a:r>
                    </a:p>
                  </a:txBody>
                  <a:tcPr marL="49328" marR="49328" marT="69060" marB="690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spcAft>
                          <a:spcPts val="750"/>
                        </a:spcAft>
                        <a:buNone/>
                      </a:pPr>
                      <a:r>
                        <a:rPr lang="en-US" sz="1200" b="0" dirty="0">
                          <a:effectLst/>
                        </a:rPr>
                        <a:t>2 X 2</a:t>
                      </a:r>
                    </a:p>
                  </a:txBody>
                  <a:tcPr marL="49328" marR="49328" marT="69060" marB="690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spcAft>
                          <a:spcPts val="750"/>
                        </a:spcAft>
                        <a:buNone/>
                      </a:pPr>
                      <a:r>
                        <a:rPr lang="en-US" sz="1200" b="0">
                          <a:effectLst/>
                        </a:rPr>
                        <a:t>2</a:t>
                      </a:r>
                    </a:p>
                  </a:txBody>
                  <a:tcPr marL="49328" marR="49328" marT="69060" marB="690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spcAft>
                          <a:spcPts val="750"/>
                        </a:spcAft>
                        <a:buNone/>
                      </a:pPr>
                      <a:r>
                        <a:rPr lang="en-US" sz="1200" b="0">
                          <a:effectLst/>
                        </a:rPr>
                        <a:t>tanh</a:t>
                      </a:r>
                    </a:p>
                  </a:txBody>
                  <a:tcPr marL="49328" marR="49328" marT="69060" marB="690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7065179"/>
                  </a:ext>
                </a:extLst>
              </a:tr>
              <a:tr h="601184">
                <a:tc>
                  <a:txBody>
                    <a:bodyPr/>
                    <a:lstStyle/>
                    <a:p>
                      <a:pPr algn="ctr" rtl="0" fontAlgn="base">
                        <a:spcAft>
                          <a:spcPts val="750"/>
                        </a:spcAft>
                        <a:buNone/>
                      </a:pPr>
                      <a:r>
                        <a:rPr lang="en-US" sz="1200" b="1">
                          <a:effectLst/>
                        </a:rPr>
                        <a:t>3 - Convolution</a:t>
                      </a:r>
                    </a:p>
                  </a:txBody>
                  <a:tcPr marL="24664" marR="24664" marT="34219" marB="342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spcAft>
                          <a:spcPts val="750"/>
                        </a:spcAft>
                        <a:buNone/>
                      </a:pPr>
                      <a:r>
                        <a:rPr lang="en-US" sz="1200" b="0">
                          <a:effectLst/>
                        </a:rPr>
                        <a:t>16</a:t>
                      </a:r>
                    </a:p>
                  </a:txBody>
                  <a:tcPr marL="49328" marR="49328" marT="69060" marB="690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spcAft>
                          <a:spcPts val="750"/>
                        </a:spcAft>
                        <a:buNone/>
                      </a:pPr>
                      <a:r>
                        <a:rPr lang="en-US" sz="1200" b="0" dirty="0">
                          <a:effectLst/>
                        </a:rPr>
                        <a:t>10 X 10</a:t>
                      </a:r>
                    </a:p>
                  </a:txBody>
                  <a:tcPr marL="49328" marR="49328" marT="69060" marB="690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spcAft>
                          <a:spcPts val="750"/>
                        </a:spcAft>
                        <a:buNone/>
                      </a:pPr>
                      <a:r>
                        <a:rPr lang="en-US" sz="1200" b="0">
                          <a:effectLst/>
                        </a:rPr>
                        <a:t>5 X 5</a:t>
                      </a:r>
                    </a:p>
                  </a:txBody>
                  <a:tcPr marL="49328" marR="49328" marT="69060" marB="690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spcAft>
                          <a:spcPts val="750"/>
                        </a:spcAft>
                        <a:buNone/>
                      </a:pPr>
                      <a:r>
                        <a:rPr lang="en-US" sz="1200" b="0">
                          <a:effectLst/>
                        </a:rPr>
                        <a:t>1</a:t>
                      </a:r>
                    </a:p>
                  </a:txBody>
                  <a:tcPr marL="49328" marR="49328" marT="69060" marB="690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spcAft>
                          <a:spcPts val="750"/>
                        </a:spcAft>
                        <a:buNone/>
                      </a:pPr>
                      <a:r>
                        <a:rPr lang="en-US" sz="1200" b="0">
                          <a:effectLst/>
                        </a:rPr>
                        <a:t>tanh</a:t>
                      </a:r>
                    </a:p>
                  </a:txBody>
                  <a:tcPr marL="49328" marR="49328" marT="69060" marB="690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9718045"/>
                  </a:ext>
                </a:extLst>
              </a:tr>
              <a:tr h="601184">
                <a:tc>
                  <a:txBody>
                    <a:bodyPr/>
                    <a:lstStyle/>
                    <a:p>
                      <a:pPr algn="ctr" rtl="0" fontAlgn="base">
                        <a:spcAft>
                          <a:spcPts val="750"/>
                        </a:spcAft>
                        <a:buNone/>
                      </a:pPr>
                      <a:r>
                        <a:rPr lang="en-US" sz="1200" b="1">
                          <a:effectLst/>
                        </a:rPr>
                        <a:t>4 - Avergae Pooling</a:t>
                      </a:r>
                    </a:p>
                  </a:txBody>
                  <a:tcPr marL="24664" marR="24664" marT="34219" marB="342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spcAft>
                          <a:spcPts val="750"/>
                        </a:spcAft>
                        <a:buNone/>
                      </a:pPr>
                      <a:r>
                        <a:rPr lang="en-US" sz="1200" b="0">
                          <a:effectLst/>
                        </a:rPr>
                        <a:t>16</a:t>
                      </a:r>
                    </a:p>
                  </a:txBody>
                  <a:tcPr marL="49328" marR="49328" marT="69060" marB="690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spcAft>
                          <a:spcPts val="750"/>
                        </a:spcAft>
                        <a:buNone/>
                      </a:pPr>
                      <a:r>
                        <a:rPr lang="en-US" sz="1200" b="0" dirty="0">
                          <a:effectLst/>
                        </a:rPr>
                        <a:t>5 X 5</a:t>
                      </a:r>
                    </a:p>
                  </a:txBody>
                  <a:tcPr marL="49328" marR="49328" marT="69060" marB="690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spcAft>
                          <a:spcPts val="750"/>
                        </a:spcAft>
                        <a:buNone/>
                      </a:pPr>
                      <a:r>
                        <a:rPr lang="en-US" sz="1200" b="0">
                          <a:effectLst/>
                        </a:rPr>
                        <a:t>2 X 2</a:t>
                      </a:r>
                    </a:p>
                  </a:txBody>
                  <a:tcPr marL="49328" marR="49328" marT="69060" marB="690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spcAft>
                          <a:spcPts val="750"/>
                        </a:spcAft>
                        <a:buNone/>
                      </a:pPr>
                      <a:r>
                        <a:rPr lang="en-US" sz="1200" b="0">
                          <a:effectLst/>
                        </a:rPr>
                        <a:t>2</a:t>
                      </a:r>
                    </a:p>
                  </a:txBody>
                  <a:tcPr marL="49328" marR="49328" marT="69060" marB="690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spcAft>
                          <a:spcPts val="750"/>
                        </a:spcAft>
                        <a:buNone/>
                      </a:pPr>
                      <a:r>
                        <a:rPr lang="en-US" sz="1200" b="0">
                          <a:effectLst/>
                        </a:rPr>
                        <a:t>tanh</a:t>
                      </a:r>
                    </a:p>
                  </a:txBody>
                  <a:tcPr marL="49328" marR="49328" marT="69060" marB="690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0647132"/>
                  </a:ext>
                </a:extLst>
              </a:tr>
              <a:tr h="601184">
                <a:tc>
                  <a:txBody>
                    <a:bodyPr/>
                    <a:lstStyle/>
                    <a:p>
                      <a:pPr algn="ctr" rtl="0" fontAlgn="base">
                        <a:spcAft>
                          <a:spcPts val="750"/>
                        </a:spcAft>
                        <a:buNone/>
                      </a:pPr>
                      <a:r>
                        <a:rPr lang="en-US" sz="1200" b="1">
                          <a:effectLst/>
                        </a:rPr>
                        <a:t>5 - Convolution</a:t>
                      </a:r>
                    </a:p>
                  </a:txBody>
                  <a:tcPr marL="24664" marR="24664" marT="34219" marB="342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spcAft>
                          <a:spcPts val="750"/>
                        </a:spcAft>
                        <a:buNone/>
                      </a:pPr>
                      <a:r>
                        <a:rPr lang="en-US" sz="1200" b="0">
                          <a:effectLst/>
                        </a:rPr>
                        <a:t>120</a:t>
                      </a:r>
                    </a:p>
                  </a:txBody>
                  <a:tcPr marL="49328" marR="49328" marT="69060" marB="690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spcAft>
                          <a:spcPts val="750"/>
                        </a:spcAft>
                        <a:buNone/>
                      </a:pPr>
                      <a:r>
                        <a:rPr lang="en-US" sz="1200" b="0">
                          <a:effectLst/>
                        </a:rPr>
                        <a:t>1 X 1</a:t>
                      </a:r>
                    </a:p>
                  </a:txBody>
                  <a:tcPr marL="49328" marR="49328" marT="69060" marB="690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spcAft>
                          <a:spcPts val="750"/>
                        </a:spcAft>
                        <a:buNone/>
                      </a:pPr>
                      <a:r>
                        <a:rPr lang="en-US" sz="1200" b="0">
                          <a:effectLst/>
                        </a:rPr>
                        <a:t>5 X 5</a:t>
                      </a:r>
                    </a:p>
                  </a:txBody>
                  <a:tcPr marL="49328" marR="49328" marT="69060" marB="690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spcAft>
                          <a:spcPts val="750"/>
                        </a:spcAft>
                        <a:buNone/>
                      </a:pPr>
                      <a:r>
                        <a:rPr lang="en-US" sz="1200" b="0">
                          <a:effectLst/>
                        </a:rPr>
                        <a:t>1</a:t>
                      </a:r>
                    </a:p>
                  </a:txBody>
                  <a:tcPr marL="49328" marR="49328" marT="69060" marB="690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spcAft>
                          <a:spcPts val="750"/>
                        </a:spcAft>
                        <a:buNone/>
                      </a:pPr>
                      <a:r>
                        <a:rPr lang="en-US" sz="1200" b="0">
                          <a:effectLst/>
                        </a:rPr>
                        <a:t>tanh</a:t>
                      </a:r>
                    </a:p>
                  </a:txBody>
                  <a:tcPr marL="49328" marR="49328" marT="69060" marB="690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851938"/>
                  </a:ext>
                </a:extLst>
              </a:tr>
              <a:tr h="261440">
                <a:tc>
                  <a:txBody>
                    <a:bodyPr/>
                    <a:lstStyle/>
                    <a:p>
                      <a:pPr algn="ctr" rtl="0" fontAlgn="base">
                        <a:spcAft>
                          <a:spcPts val="750"/>
                        </a:spcAft>
                        <a:buNone/>
                      </a:pPr>
                      <a:r>
                        <a:rPr lang="en-US" sz="1200" b="1">
                          <a:effectLst/>
                        </a:rPr>
                        <a:t>6 - FC</a:t>
                      </a:r>
                    </a:p>
                  </a:txBody>
                  <a:tcPr marL="24664" marR="24664" marT="34219" marB="342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spcAft>
                          <a:spcPts val="750"/>
                        </a:spcAft>
                        <a:buNone/>
                      </a:pPr>
                      <a:r>
                        <a:rPr lang="en-US" sz="1200" b="0">
                          <a:effectLst/>
                        </a:rPr>
                        <a:t>-</a:t>
                      </a:r>
                    </a:p>
                  </a:txBody>
                  <a:tcPr marL="49328" marR="49328" marT="69060" marB="690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spcAft>
                          <a:spcPts val="750"/>
                        </a:spcAft>
                        <a:buNone/>
                      </a:pPr>
                      <a:r>
                        <a:rPr lang="en-US" sz="1200" b="0">
                          <a:effectLst/>
                        </a:rPr>
                        <a:t>84</a:t>
                      </a:r>
                    </a:p>
                  </a:txBody>
                  <a:tcPr marL="49328" marR="49328" marT="69060" marB="690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spcAft>
                          <a:spcPts val="750"/>
                        </a:spcAft>
                        <a:buNone/>
                      </a:pPr>
                      <a:r>
                        <a:rPr lang="en-US" sz="1200" b="0">
                          <a:effectLst/>
                        </a:rPr>
                        <a:t>-</a:t>
                      </a:r>
                    </a:p>
                  </a:txBody>
                  <a:tcPr marL="49328" marR="49328" marT="69060" marB="690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spcAft>
                          <a:spcPts val="750"/>
                        </a:spcAft>
                        <a:buNone/>
                      </a:pPr>
                      <a:r>
                        <a:rPr lang="en-US" sz="1200" b="0">
                          <a:effectLst/>
                        </a:rPr>
                        <a:t>-</a:t>
                      </a:r>
                    </a:p>
                  </a:txBody>
                  <a:tcPr marL="49328" marR="49328" marT="69060" marB="690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spcAft>
                          <a:spcPts val="750"/>
                        </a:spcAft>
                        <a:buNone/>
                      </a:pPr>
                      <a:r>
                        <a:rPr lang="en-US" sz="1200" b="0">
                          <a:effectLst/>
                        </a:rPr>
                        <a:t>tanh</a:t>
                      </a:r>
                    </a:p>
                  </a:txBody>
                  <a:tcPr marL="49328" marR="49328" marT="69060" marB="690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9792146"/>
                  </a:ext>
                </a:extLst>
              </a:tr>
              <a:tr h="423602">
                <a:tc>
                  <a:txBody>
                    <a:bodyPr/>
                    <a:lstStyle/>
                    <a:p>
                      <a:pPr algn="ctr" rtl="0" fontAlgn="base">
                        <a:spcAft>
                          <a:spcPts val="750"/>
                        </a:spcAft>
                        <a:buNone/>
                      </a:pPr>
                      <a:r>
                        <a:rPr lang="en-US" sz="1200" b="1">
                          <a:effectLst/>
                        </a:rPr>
                        <a:t>Output - FC</a:t>
                      </a:r>
                    </a:p>
                  </a:txBody>
                  <a:tcPr marL="24664" marR="24664" marT="34219" marB="342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spcAft>
                          <a:spcPts val="750"/>
                        </a:spcAft>
                        <a:buNone/>
                      </a:pPr>
                      <a:r>
                        <a:rPr lang="en-US" sz="1200" b="0">
                          <a:effectLst/>
                        </a:rPr>
                        <a:t>-</a:t>
                      </a:r>
                    </a:p>
                  </a:txBody>
                  <a:tcPr marL="49328" marR="49328" marT="69060" marB="690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spcAft>
                          <a:spcPts val="750"/>
                        </a:spcAft>
                        <a:buNone/>
                      </a:pPr>
                      <a:r>
                        <a:rPr lang="en-US" sz="1200" b="0">
                          <a:effectLst/>
                        </a:rPr>
                        <a:t>10</a:t>
                      </a:r>
                    </a:p>
                  </a:txBody>
                  <a:tcPr marL="49328" marR="49328" marT="69060" marB="690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spcAft>
                          <a:spcPts val="750"/>
                        </a:spcAft>
                        <a:buNone/>
                      </a:pPr>
                      <a:r>
                        <a:rPr lang="en-US" sz="1200" b="0">
                          <a:effectLst/>
                        </a:rPr>
                        <a:t>-</a:t>
                      </a:r>
                    </a:p>
                  </a:txBody>
                  <a:tcPr marL="49328" marR="49328" marT="69060" marB="690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spcAft>
                          <a:spcPts val="750"/>
                        </a:spcAft>
                        <a:buNone/>
                      </a:pPr>
                      <a:r>
                        <a:rPr lang="en-US" sz="1200" b="0">
                          <a:effectLst/>
                        </a:rPr>
                        <a:t>-</a:t>
                      </a:r>
                    </a:p>
                  </a:txBody>
                  <a:tcPr marL="49328" marR="49328" marT="69060" marB="690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spcAft>
                          <a:spcPts val="750"/>
                        </a:spcAft>
                        <a:buNone/>
                      </a:pPr>
                      <a:r>
                        <a:rPr lang="en-US" sz="1200" b="0" dirty="0" err="1">
                          <a:effectLst/>
                        </a:rPr>
                        <a:t>softmax</a:t>
                      </a:r>
                      <a:endParaRPr lang="en-US" sz="1200" b="0" dirty="0">
                        <a:effectLst/>
                      </a:endParaRPr>
                    </a:p>
                  </a:txBody>
                  <a:tcPr marL="49328" marR="49328" marT="69060" marB="690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03951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800021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DD6A7D-0FDC-C9E3-25F2-AEA588743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AlexNet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295929-935A-AC92-E5D7-4966EAAA04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4071" y="1619148"/>
            <a:ext cx="5601929" cy="4351338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Much deeper and wider than LeNet.</a:t>
            </a:r>
          </a:p>
          <a:p>
            <a:r>
              <a:rPr lang="en-US" dirty="0"/>
              <a:t>Designed for 224×224 RGB images.</a:t>
            </a:r>
          </a:p>
          <a:p>
            <a:r>
              <a:rPr lang="en-US" dirty="0"/>
              <a:t>Architecture:</a:t>
            </a:r>
          </a:p>
          <a:p>
            <a:pPr lvl="1"/>
            <a:r>
              <a:rPr lang="en-US" dirty="0"/>
              <a:t>5 Conv layers → 3 FC layers</a:t>
            </a:r>
          </a:p>
          <a:p>
            <a:r>
              <a:rPr lang="en-US" dirty="0"/>
              <a:t>Introduced </a:t>
            </a:r>
            <a:r>
              <a:rPr lang="en-US" dirty="0" err="1"/>
              <a:t>ReLU</a:t>
            </a:r>
            <a:r>
              <a:rPr lang="en-US" dirty="0"/>
              <a:t>, Dropout, Data Augmentation.</a:t>
            </a:r>
          </a:p>
          <a:p>
            <a:r>
              <a:rPr lang="en-US" dirty="0"/>
              <a:t>In </a:t>
            </a:r>
            <a:r>
              <a:rPr lang="en-US" dirty="0" err="1"/>
              <a:t>AlexNet</a:t>
            </a:r>
            <a:r>
              <a:rPr lang="en-US" dirty="0"/>
              <a:t>, data augmentation refers to artificially increasing the size and diversity of the training dataset by applying </a:t>
            </a:r>
            <a:r>
              <a:rPr lang="en-US" i="1" dirty="0"/>
              <a:t>label-preserving transformations</a:t>
            </a:r>
            <a:r>
              <a:rPr lang="en-US" dirty="0"/>
              <a:t> to the input images.</a:t>
            </a:r>
          </a:p>
          <a:p>
            <a:r>
              <a:rPr lang="en-US" dirty="0"/>
              <a:t>Used overlapping max-pool, large filters (11×11, 5×5).</a:t>
            </a:r>
          </a:p>
          <a:p>
            <a:r>
              <a:rPr lang="en-US" dirty="0"/>
              <a:t>First CNN to win ImageNet with a big margin.</a:t>
            </a:r>
          </a:p>
          <a:p>
            <a:r>
              <a:rPr lang="en-US" dirty="0"/>
              <a:t>Parameters: ~60 million.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876A32C-322A-2A28-613F-B1B50614B7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127543"/>
            <a:ext cx="5696347" cy="2602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26858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26252-2E43-BADF-E9BC-8CFE73A077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Key Features: </a:t>
            </a:r>
            <a:r>
              <a:rPr lang="en-US" b="1" dirty="0" err="1"/>
              <a:t>AlexNet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6F90C1-921B-A9FB-5B5A-A4F39023D6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‘</a:t>
            </a:r>
            <a:r>
              <a:rPr lang="en-US" dirty="0" err="1"/>
              <a:t>ReLU</a:t>
            </a:r>
            <a:r>
              <a:rPr lang="en-US" dirty="0"/>
              <a:t>’ is used as an activation function rather than ‘tanh’</a:t>
            </a:r>
          </a:p>
          <a:p>
            <a:r>
              <a:rPr lang="en-US" dirty="0"/>
              <a:t>Batch size of 128</a:t>
            </a:r>
          </a:p>
          <a:p>
            <a:r>
              <a:rPr lang="en-US" dirty="0"/>
              <a:t>SGD Momentum is used as a learning algorithm</a:t>
            </a:r>
          </a:p>
          <a:p>
            <a:r>
              <a:rPr lang="en-US" dirty="0"/>
              <a:t>Data Augmentation is been carried out like flipping, jittering, cropping, </a:t>
            </a:r>
            <a:r>
              <a:rPr lang="en-US" dirty="0" err="1"/>
              <a:t>colour</a:t>
            </a:r>
            <a:r>
              <a:rPr lang="en-US" dirty="0"/>
              <a:t> normalization, etc.</a:t>
            </a:r>
          </a:p>
          <a:p>
            <a:r>
              <a:rPr lang="en-US" i="1" dirty="0" err="1"/>
              <a:t>AlexNet</a:t>
            </a:r>
            <a:r>
              <a:rPr lang="en-US" i="1" dirty="0"/>
              <a:t> was trained on a GTX 580 GPU with only 3 GB of memory which couldn’t fit the entire network. So the network was split across 2 GPUs, with half of the neurons(feature maps) on each GPU.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90592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98DFE0-21FF-624D-5734-1CFE9DB20E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</a:t>
            </a:r>
            <a:r>
              <a:rPr lang="en-US" dirty="0" err="1"/>
              <a:t>Augumentation</a:t>
            </a:r>
            <a:endParaRPr lang="en-US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FE4365E3-1B38-E7D4-BFB0-143205BCF2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1951" y="3039626"/>
            <a:ext cx="6139108" cy="3453249"/>
          </a:xfr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239F8D8-49B8-19BB-BD5A-52F4D2D087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662" y="1857933"/>
            <a:ext cx="5016289" cy="202580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1D90E4D-0D7E-622F-A96D-7ACCA5353E5D}"/>
              </a:ext>
            </a:extLst>
          </p:cNvPr>
          <p:cNvSpPr txBox="1"/>
          <p:nvPr/>
        </p:nvSpPr>
        <p:spPr>
          <a:xfrm>
            <a:off x="5801033" y="1764992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For the network’s inputs, the creators of </a:t>
            </a:r>
            <a:r>
              <a:rPr lang="en-US" b="0" i="0" dirty="0" err="1">
                <a:solidFill>
                  <a:srgbClr val="242424"/>
                </a:solidFill>
                <a:effectLst/>
                <a:latin typeface="source-serif-pro"/>
              </a:rPr>
              <a:t>AlexNet</a:t>
            </a: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 selected random crops with dimensions of 227 by 227 from within the 256 by 256 image boundary. They multiplied the size of the data by 2048 using this technique.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09137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8C9D30-8657-27FD-07A5-AFFF315A62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AlexNet</a:t>
            </a:r>
            <a:r>
              <a:rPr lang="en-US" dirty="0"/>
              <a:t>: Summary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AE05094-E52E-A1FD-DF6C-9AE2EDFA0E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5814" y="1825625"/>
            <a:ext cx="7120371" cy="4351338"/>
          </a:xfrm>
        </p:spPr>
      </p:pic>
    </p:spTree>
    <p:extLst>
      <p:ext uri="{BB962C8B-B14F-4D97-AF65-F5344CB8AC3E}">
        <p14:creationId xmlns:p14="http://schemas.microsoft.com/office/powerpoint/2010/main" val="38894140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D80D35-9DD1-0302-A865-B2BA62632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 VGG (VGG-16, VGG-19)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54A6BE-78F3-DFB9-06FD-20E69FBBA0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Much deeper than </a:t>
            </a:r>
            <a:r>
              <a:rPr lang="en-US" dirty="0" err="1"/>
              <a:t>AlexNet</a:t>
            </a:r>
            <a:r>
              <a:rPr lang="en-US" dirty="0"/>
              <a:t>.</a:t>
            </a:r>
          </a:p>
          <a:p>
            <a:r>
              <a:rPr lang="en-US" dirty="0"/>
              <a:t>Key idea: Use only 3×3 convolutions</a:t>
            </a:r>
          </a:p>
          <a:p>
            <a:r>
              <a:rPr lang="en-US" dirty="0"/>
              <a:t>Architecture: </a:t>
            </a:r>
          </a:p>
          <a:p>
            <a:pPr lvl="1"/>
            <a:r>
              <a:rPr lang="en-US" dirty="0"/>
              <a:t>Many (11–19) convolution layers</a:t>
            </a:r>
          </a:p>
          <a:p>
            <a:pPr lvl="1"/>
            <a:r>
              <a:rPr lang="en-US" dirty="0"/>
              <a:t>Conv → Conv → Pool repeating blocks</a:t>
            </a:r>
          </a:p>
          <a:p>
            <a:pPr lvl="1"/>
            <a:r>
              <a:rPr lang="en-US" dirty="0"/>
              <a:t>3 dense layers at the end</a:t>
            </a:r>
          </a:p>
          <a:p>
            <a:r>
              <a:rPr lang="en-US" dirty="0"/>
              <a:t>Highly uniform design.</a:t>
            </a:r>
          </a:p>
          <a:p>
            <a:r>
              <a:rPr lang="en-US" dirty="0"/>
              <a:t>Parameters: ~138 million (very large)</a:t>
            </a:r>
          </a:p>
          <a:p>
            <a:r>
              <a:rPr lang="en-US" dirty="0"/>
              <a:t>Strong feature extractor for transfer learning.</a:t>
            </a:r>
          </a:p>
        </p:txBody>
      </p:sp>
    </p:spTree>
    <p:extLst>
      <p:ext uri="{BB962C8B-B14F-4D97-AF65-F5344CB8AC3E}">
        <p14:creationId xmlns:p14="http://schemas.microsoft.com/office/powerpoint/2010/main" val="35914529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654E46-661C-A212-EDE9-7547DFEC25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VGGNet</a:t>
            </a:r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3692EC4B-1129-FD8D-57EB-0C1FAE4B152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8250" y="1825625"/>
            <a:ext cx="685549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12978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E9921B-B0FC-90C1-AE16-EAF48F8F56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VGGNet</a:t>
            </a:r>
            <a:r>
              <a:rPr lang="en-US" dirty="0"/>
              <a:t> Vs. </a:t>
            </a:r>
            <a:r>
              <a:rPr lang="en-US" dirty="0" err="1"/>
              <a:t>AlexNet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E88179C-107E-8692-DAFD-C91664A12AF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4439" y="1825625"/>
            <a:ext cx="9043122" cy="4351338"/>
          </a:xfrm>
        </p:spPr>
      </p:pic>
    </p:spTree>
    <p:extLst>
      <p:ext uri="{BB962C8B-B14F-4D97-AF65-F5344CB8AC3E}">
        <p14:creationId xmlns:p14="http://schemas.microsoft.com/office/powerpoint/2010/main" val="15174348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537E9-6323-6FD4-36AE-5B8F86CCDF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VGGNet</a:t>
            </a:r>
            <a:r>
              <a:rPr lang="en-US" dirty="0"/>
              <a:t> Summary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41D1EF5-3F5F-8B03-6AD3-93AA480DFF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3303" y="1690688"/>
            <a:ext cx="4886129" cy="4960779"/>
          </a:xfrm>
        </p:spPr>
      </p:pic>
    </p:spTree>
    <p:extLst>
      <p:ext uri="{BB962C8B-B14F-4D97-AF65-F5344CB8AC3E}">
        <p14:creationId xmlns:p14="http://schemas.microsoft.com/office/powerpoint/2010/main" val="12411558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B14586-CA28-299C-9408-CBAEEA410C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Detailed </a:t>
            </a:r>
            <a:r>
              <a:rPr lang="en-US" dirty="0" err="1"/>
              <a:t>Comparisson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4FF6AFF-4D36-DF82-A396-5E811864A3A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06435330"/>
              </p:ext>
            </p:extLst>
          </p:nvPr>
        </p:nvGraphicFramePr>
        <p:xfrm>
          <a:off x="838200" y="1898174"/>
          <a:ext cx="10515600" cy="420624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81850562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72397073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580249038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75354188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Feature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LeNet-5</a:t>
                      </a:r>
                      <a:endParaRPr lang="en-US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AlexNet</a:t>
                      </a:r>
                      <a:endParaRPr lang="en-US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VGG-16/19</a:t>
                      </a:r>
                      <a:endParaRPr lang="en-US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0983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Year</a:t>
                      </a:r>
                      <a:endParaRPr lang="en-US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1998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2014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6055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Depth</a:t>
                      </a:r>
                      <a:endParaRPr lang="en-US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5–7 layers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 layers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16/19 layers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17762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Image Input</a:t>
                      </a:r>
                      <a:endParaRPr lang="en-US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28×28 grayscale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224×224 RGB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224×224 RGB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14734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Convolution Filters</a:t>
                      </a:r>
                      <a:endParaRPr lang="en-US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5×5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11×11, 5×5, 3×3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Only 3×3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8184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Activation</a:t>
                      </a:r>
                      <a:endParaRPr lang="en-US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tanh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ReLU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ReLU</a:t>
                      </a:r>
                      <a:endParaRPr lang="en-US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35528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Pooling</a:t>
                      </a:r>
                      <a:endParaRPr lang="en-US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Avg pooling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Overlapping max-pool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Max-pool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49218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Innovations</a:t>
                      </a:r>
                      <a:endParaRPr lang="en-US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Early CNN; low-compute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ReLU, GPU training, dropout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Deep + simple design, strong transfer learning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96765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Parameters</a:t>
                      </a:r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~60K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~60M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~138M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70121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Use Case</a:t>
                      </a:r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MNIST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ImageNet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ImageNet &amp; feature extraction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78382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843487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7A524-768A-44AE-6BC5-B441288A43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Evolution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BA80D4-4F59-ECB5-F66C-55F96F7A5E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LeNet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First structured CNN; very small; suited for small images.</a:t>
            </a:r>
          </a:p>
          <a:p>
            <a:r>
              <a:rPr lang="en-US" b="1" dirty="0" err="1"/>
              <a:t>AlexNet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Huge jump in scale.</a:t>
            </a:r>
          </a:p>
          <a:p>
            <a:pPr lvl="1"/>
            <a:r>
              <a:rPr lang="en-US" dirty="0"/>
              <a:t>Introduced </a:t>
            </a:r>
            <a:r>
              <a:rPr lang="en-US" dirty="0" err="1"/>
              <a:t>ReLU</a:t>
            </a:r>
            <a:r>
              <a:rPr lang="en-US" dirty="0"/>
              <a:t> → solved vanishing gradient.</a:t>
            </a:r>
          </a:p>
          <a:p>
            <a:pPr lvl="1"/>
            <a:r>
              <a:rPr lang="en-US" dirty="0"/>
              <a:t>Effective use of GPUs.</a:t>
            </a:r>
          </a:p>
          <a:p>
            <a:r>
              <a:rPr lang="en-US" b="1" dirty="0"/>
              <a:t>VGG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Showed that depth + small filters = better accuracy.</a:t>
            </a:r>
          </a:p>
          <a:p>
            <a:pPr lvl="1"/>
            <a:r>
              <a:rPr lang="en-US" dirty="0"/>
              <a:t>Extremely clean architecture, widely used for transfer learning.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36357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1675</TotalTime>
  <Words>721</Words>
  <Application>Microsoft Office PowerPoint</Application>
  <PresentationFormat>Widescreen</PresentationFormat>
  <Paragraphs>186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ADLaM Display</vt:lpstr>
      <vt:lpstr>Arial</vt:lpstr>
      <vt:lpstr>Calibri</vt:lpstr>
      <vt:lpstr>Calibri Light</vt:lpstr>
      <vt:lpstr>Cambria Math</vt:lpstr>
      <vt:lpstr>source-serif-pro</vt:lpstr>
      <vt:lpstr>Office Theme</vt:lpstr>
      <vt:lpstr>CNN</vt:lpstr>
      <vt:lpstr>PowerPoint Presentation</vt:lpstr>
      <vt:lpstr>Example of convolution</vt:lpstr>
      <vt:lpstr>PowerPoint Presentation</vt:lpstr>
      <vt:lpstr>LeNet-5 </vt:lpstr>
      <vt:lpstr>LeNet</vt:lpstr>
      <vt:lpstr>AlexNet</vt:lpstr>
      <vt:lpstr>Key Features: AlexNet </vt:lpstr>
      <vt:lpstr>Data Augumentation</vt:lpstr>
      <vt:lpstr>AlexNet: Summary</vt:lpstr>
      <vt:lpstr> VGG (VGG-16, VGG-19) </vt:lpstr>
      <vt:lpstr>VGGNet</vt:lpstr>
      <vt:lpstr>VGGNet Vs. AlexNet</vt:lpstr>
      <vt:lpstr>VGGNet Summary</vt:lpstr>
      <vt:lpstr>Detailed Comparisson</vt:lpstr>
      <vt:lpstr>Evolution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Sidharth Sharma</dc:creator>
  <cp:lastModifiedBy>Sidharth Sharma</cp:lastModifiedBy>
  <cp:revision>38</cp:revision>
  <dcterms:created xsi:type="dcterms:W3CDTF">2025-11-22T13:58:06Z</dcterms:created>
  <dcterms:modified xsi:type="dcterms:W3CDTF">2025-11-23T17:53:25Z</dcterms:modified>
</cp:coreProperties>
</file>