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4"/>
    <p:sldId id="272" r:id="rId5"/>
    <p:sldId id="259" r:id="rId6"/>
    <p:sldId id="260" r:id="rId7"/>
    <p:sldId id="267" r:id="rId8"/>
    <p:sldId id="269" r:id="rId9"/>
    <p:sldId id="268" r:id="rId10"/>
    <p:sldId id="270" r:id="rId11"/>
    <p:sldId id="261" r:id="rId12"/>
    <p:sldId id="264" r:id="rId13"/>
    <p:sldId id="266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608D6-F6A4-4FC0-B592-B6145668804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6DEDD-9992-408F-9342-2C89C2BC8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23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6DEDD-9992-408F-9342-2C89C2BC85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3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C55F-8479-F944-7293-5B8503E2C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5F0AD-D26A-18D9-864E-377B98336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8418-7B50-ED8D-1D9C-9B3AA370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32BDB-5A69-C719-F2D8-1D39F2573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44931-C786-7E4A-2203-56EE0712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8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048A-7FF3-C518-A29B-B5EE4CD5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04C4-7FEC-0F45-8926-878D803A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F0E42-5044-27A2-0785-F5A4112E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5E891-FCFC-AE75-BAAE-FB3F55C3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5514B-7775-BC5E-BFA1-76425164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7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4622-F2AE-5EE6-780A-A4572104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DD9C6-D20E-A990-0A67-F89ED29C3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E0AB8-AC1D-AF06-1EE1-98CAF46BA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F3E6-A5D5-A520-C329-401B4D86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A81A5-FAC7-7A02-53AD-4BC1A615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4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DC604-CBE5-22CE-DDE2-32E25AEB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CBCE-A1D4-FB74-26D8-30F649048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5794-6382-2187-19AD-212992255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AB180-4C28-0178-1A8B-B1BBF46F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E999D-0CE2-7C06-2F4F-ECFD591E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029E0-7F09-4406-6C11-9AB9C678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3413-A306-1A8E-9CD9-08F91D54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C520A-E8B0-DE8B-6A8A-1E88CE595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03E90-6330-220C-A00C-C2A110814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FC35E-640B-D9BA-194C-103D79DC7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505EC-BCE2-5C42-5458-E7038C170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533C6-8750-1AF3-30EC-89693995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27875-EC77-9E4F-4D98-BDCD0EF6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1D345-3665-8DF2-92EC-EC5EF4C2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8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AA09-B068-0229-76CB-A9764A0B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EDDCA-52EC-0DA8-B1A5-AA32AE39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B6AF8-A9DE-0108-46A9-C39C4FA9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D36C4-413F-FCD4-8869-A5781C7F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9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E93AD-8596-13A5-1F9A-0AD652D8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09BA4-814E-C2FD-7ED6-1777EB47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C8631-3153-55B7-F378-52B820FA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4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1BC6-AE32-CB74-320C-82D80865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8BD2-87E2-2EED-5086-398C8BB1D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BC246-5C9A-DE4A-3A93-954420C08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713C-A82D-E2B0-B7E3-CFC4BC8C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A2D69-B4FC-CBD7-9107-A31FC6FF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7EF00-D52B-6867-9490-7A66A48F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2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8F73-0AB4-DE50-6AB6-233C248A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A028E-77FF-9961-BB4B-A8E65E596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E1AB4-D4D8-949F-B9B8-E7FB8C666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3871B-5D81-DC44-8F2D-F9250115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0FD64-A995-3141-4637-8FE73CEC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986B8-A753-8E83-C434-8B09BB39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704A-ACD3-FC21-A423-87FC08D11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915DA-2802-5622-D0EB-A1452F4E2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A5E96-51DD-9CE5-3D7F-40E1BCB7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A0E64-37F8-CDB0-842F-9EBD4066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3D09-7F65-C5CC-B8D3-FF1B1FE4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D3DE9-EFB5-46C3-8BAE-C712AADEE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C7081-3FA7-D766-4F28-47EC9FAE3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39AFC-B6FF-E948-4AA6-CD59ED19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174B3-DF9D-9211-A649-B0D9369C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24009-4B0B-0E2F-146B-791EC12F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0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4469F-0B46-B8B1-EC4F-27C26DAB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4EE8-3245-022B-6178-9CE853E37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04A4-2E71-8DC9-8802-83B516FD5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91B25-50BE-4A22-BE0C-DEAF55C9A566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86B36-9A2E-3250-497E-69BA512EB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7D668-6439-7F66-AAC2-BD6BF84EC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76130-F64B-411C-BF60-82437342A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3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DC79-D38A-500B-C185-95A40EE10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Collection &amp; Pre-processing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55EEE-7E6F-C188-8EDB-1896C5FBDE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8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F4D7-9583-EC8B-CDA7-609B8FA3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Data source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EF926-03A8-A737-B8F9-C83F28BE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UAV data is “complex” because it is multi-modal (variety), high-rate &amp; heavy (volume/velocity), and noisy/irregular</a:t>
            </a:r>
          </a:p>
          <a:p>
            <a:r>
              <a:rPr lang="en-US" dirty="0"/>
              <a:t>Time sync, coordinate consistency, calibration, denoising, and schema normalization before any Machine Learning algorithms is applied.</a:t>
            </a:r>
          </a:p>
          <a:p>
            <a:r>
              <a:rPr lang="en-US" dirty="0"/>
              <a:t>Turning messy, multi-modal inputs (telemetry, IMU, camera, LiDAR, surveys, APIs) into well-defined tables with clear schemas, units, IDs, and timelines.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59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E7AA-EF1D-C6C7-2014-E23B0288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341" y="0"/>
            <a:ext cx="10515600" cy="1325563"/>
          </a:xfrm>
        </p:spPr>
        <p:txBody>
          <a:bodyPr/>
          <a:lstStyle/>
          <a:p>
            <a:r>
              <a:rPr lang="en-US" dirty="0"/>
              <a:t>Core principles for UAV Data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2DBCB47-B87D-C581-8CEF-2DB78A797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7842" y="1015863"/>
            <a:ext cx="10616241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 (columns) you need to create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Unicode MS"/>
              </a:rPr>
              <a:t>flight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 (one mission) ↔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Unicode MS"/>
              </a:rPr>
              <a:t>telemetry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 (time series) ↔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Unicode MS"/>
              </a:rPr>
              <a:t>events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 (mode changes)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External/context: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weather_snapshot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airspace_polygon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geofence_rule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survey_annotation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Payload refs: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image_asset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lidar_asset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(store metadata + path, not the binary itself)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&amp; synchronization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UTC everywhere; store as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datetime64[ns, UTC]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raw sensor timestamps and a unified timeline after resampling (e.g., 10 Hz).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Coordinates &amp; units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Positions: WGS84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/long), plus a local ENU frame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WGS84: </a:t>
            </a:r>
            <a:r>
              <a:rPr lang="en-US" sz="2400" dirty="0"/>
              <a:t>address on Earth’s globe, and ENU: local X–Y–Z grid around you.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Altitude: declare reference (AGL or MSL) and units (meters).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SI units: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speed_ms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altitude_m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accel_mps2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18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886D7-03BB-92FD-3E86-BF1584B1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06" y="94830"/>
            <a:ext cx="10515600" cy="1325563"/>
          </a:xfrm>
        </p:spPr>
        <p:txBody>
          <a:bodyPr/>
          <a:lstStyle/>
          <a:p>
            <a:r>
              <a:rPr lang="en-US" dirty="0"/>
              <a:t>Core principles for UAV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170879-F3D3-4F98-97A5-8C259F8BF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7691"/>
            <a:ext cx="10574412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Identifiers &amp; naming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flight_id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(UUID),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uav_id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segment_id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(optional per takeoff–landing).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snake_case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unit-suffixed names (e.g.,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altitude_m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speed_ms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e) Storage tiers &amp; formats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Bronze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(raw JSON/CSV as collected) →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Silver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(cleaned, typed, normalized) →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Gold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(features/labels).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f) Streaming vs batch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Telemetry/health → streaming (WebSocket/UDP) into small chunks.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Photos/LiDAR → batch uploads with metadata 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2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6830-33FB-EBB7-9091-88A573B9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440FC4-C8B9-4312-CA2B-BE10AEED0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42455"/>
            <a:ext cx="1113063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you get: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Pilot notes, checklists, field labels, geotagged photos, target presence/condition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complex: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Human-entered data → typos, inconsistent scales, missing timestamps; subjective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problems: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Free-text ambiguity, mismatched identifiers vs telemetry, sparse sampling.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92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6EAC-69C7-B44F-72FF-B5D248A5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Flight telemetry APIs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49F3-61EB-C533-56F1-7C8917191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87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What you get:</a:t>
            </a:r>
            <a:r>
              <a:rPr lang="en-US" dirty="0"/>
              <a:t> </a:t>
            </a:r>
            <a:r>
              <a:rPr lang="en-US" dirty="0" err="1"/>
              <a:t>MAVLink</a:t>
            </a:r>
            <a:r>
              <a:rPr lang="en-US" dirty="0"/>
              <a:t>/SDK streams: position, attitude, motor RPM, battery, flight mode, health; 5–50 Hz per stream.</a:t>
            </a:r>
          </a:p>
          <a:p>
            <a:r>
              <a:rPr lang="en-US" b="1" dirty="0"/>
              <a:t>Why complex:</a:t>
            </a:r>
            <a:r>
              <a:rPr lang="en-US" dirty="0"/>
              <a:t> Multiple message types at different rates, occasional packet loss, firmware-dependent fields, mixed units.</a:t>
            </a:r>
          </a:p>
          <a:p>
            <a:r>
              <a:rPr lang="en-US" b="1" dirty="0"/>
              <a:t>Typical problems:</a:t>
            </a:r>
            <a:r>
              <a:rPr lang="en-US" dirty="0"/>
              <a:t> Out-of-order packets, duplicate messages, mode changes mid-mission, missing fields.</a:t>
            </a:r>
          </a:p>
          <a:p>
            <a:r>
              <a:rPr lang="en-US" b="1" dirty="0"/>
              <a:t>Preprocessing tips:</a:t>
            </a:r>
            <a:endParaRPr lang="en-US" dirty="0"/>
          </a:p>
          <a:p>
            <a:pPr lvl="1"/>
            <a:r>
              <a:rPr lang="en-US" dirty="0"/>
              <a:t>Parse to a </a:t>
            </a:r>
            <a:r>
              <a:rPr lang="en-US" b="1" dirty="0"/>
              <a:t>typed schema</a:t>
            </a:r>
            <a:r>
              <a:rPr lang="en-US" dirty="0"/>
              <a:t> (e.g., one tidy table per signal family).</a:t>
            </a:r>
          </a:p>
          <a:p>
            <a:pPr lvl="1"/>
            <a:r>
              <a:rPr lang="en-US" dirty="0"/>
              <a:t>De-duplicate, sort by timestamp, resample to common rate.</a:t>
            </a:r>
          </a:p>
          <a:p>
            <a:pPr lvl="1"/>
            <a:r>
              <a:rPr lang="en-US" dirty="0"/>
              <a:t>Validate ranges (battery 0–100, attitudes in ±</a:t>
            </a:r>
            <a:r>
              <a:rPr lang="el-GR" dirty="0"/>
              <a:t>π, </a:t>
            </a:r>
            <a:r>
              <a:rPr lang="en-US" dirty="0"/>
              <a:t>etc.) and flag anomalies.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4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A55E8-20DB-C259-190F-2BB57A5A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1) Airspace / NOTAM / TFR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B8F69-487D-FF71-822D-06589148B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Keep flights legal and safe by checking permanent rules and temporary restrictions.</a:t>
            </a:r>
          </a:p>
          <a:p>
            <a:r>
              <a:rPr lang="en-US" dirty="0"/>
              <a:t>Critical because airspace status can change hours or minutes before launch (VIP movements, wildfire TFRs, parachute ops). Without this check, you risk regulatory violations, fines, or loss of aircraft.</a:t>
            </a:r>
          </a:p>
          <a:p>
            <a:r>
              <a:rPr lang="en-US" dirty="0"/>
              <a:t>Provide polygons with effective start/end times, altitude floors/ceilings, required authorizations, contact details.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Use in workflow:</a:t>
            </a:r>
            <a:endParaRPr lang="en-US" dirty="0"/>
          </a:p>
          <a:p>
            <a:r>
              <a:rPr lang="en-US" b="1" dirty="0"/>
              <a:t>Pre-flight:</a:t>
            </a:r>
            <a:r>
              <a:rPr lang="en-US" dirty="0"/>
              <a:t> fetch current notices for your planned area/altitude.</a:t>
            </a:r>
          </a:p>
          <a:p>
            <a:r>
              <a:rPr lang="en-US" b="1" dirty="0"/>
              <a:t>In-flight:</a:t>
            </a:r>
            <a:r>
              <a:rPr lang="en-US" dirty="0"/>
              <a:t> monitor for new TFRs and trigger </a:t>
            </a:r>
            <a:r>
              <a:rPr lang="en-US" b="1" dirty="0"/>
              <a:t>re-routes or RTL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532C3-BFE8-7C9B-32CB-ADCFDC3CAB8E}"/>
              </a:ext>
            </a:extLst>
          </p:cNvPr>
          <p:cNvSpPr txBox="1"/>
          <p:nvPr/>
        </p:nvSpPr>
        <p:spPr>
          <a:xfrm>
            <a:off x="431321" y="64202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NOTAM</a:t>
            </a:r>
            <a:r>
              <a:rPr lang="en-US" dirty="0"/>
              <a:t> → </a:t>
            </a:r>
            <a:r>
              <a:rPr lang="en-US" b="1" dirty="0"/>
              <a:t>Notice to Air Missions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CABBD-3607-4E34-66A2-51DB7961A350}"/>
              </a:ext>
            </a:extLst>
          </p:cNvPr>
          <p:cNvSpPr txBox="1"/>
          <p:nvPr/>
        </p:nvSpPr>
        <p:spPr>
          <a:xfrm>
            <a:off x="6418053" y="64202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TFR = a kind of notice about temporary no-fly zones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FAAE-AFFB-29C0-8A22-4F7E18A3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2) Geofencing APIs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50231-92EA-0FC2-2208-8E3FA7354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Enforce where a drone may (or may not) fly—fixed critical zones (airports, prisons, power plants) and your own operational bubbles.</a:t>
            </a:r>
          </a:p>
          <a:p>
            <a:r>
              <a:rPr lang="en-US" dirty="0"/>
              <a:t>Prevents airspace incursions and ground risk (e.g., crowds). It’s your last line of defense if GPS drifts or wind pushes you off track.</a:t>
            </a:r>
          </a:p>
          <a:p>
            <a:r>
              <a:rPr lang="en-US" dirty="0"/>
              <a:t>Provide No-fly and authorization-required polygons, buffers, altitude caps, rationale codes.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Use in workflow:</a:t>
            </a:r>
            <a:endParaRPr lang="en-US" dirty="0"/>
          </a:p>
          <a:p>
            <a:r>
              <a:rPr lang="en-US" b="1" dirty="0"/>
              <a:t>Pre-flight:</a:t>
            </a:r>
            <a:r>
              <a:rPr lang="en-US" dirty="0"/>
              <a:t> plan a corridor that avoids restricted areas.</a:t>
            </a:r>
          </a:p>
          <a:p>
            <a:r>
              <a:rPr lang="en-US" b="1" dirty="0"/>
              <a:t>In-flight:</a:t>
            </a:r>
            <a:r>
              <a:rPr lang="en-US" dirty="0"/>
              <a:t> continuous </a:t>
            </a:r>
            <a:r>
              <a:rPr lang="en-US" b="1" dirty="0"/>
              <a:t>point-in-polygon</a:t>
            </a:r>
            <a:r>
              <a:rPr lang="en-US" dirty="0"/>
              <a:t> checks; if inside, slow/stop/RTL.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93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6B5B-493E-A0B7-A7BD-268394EE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3) UTM (Uncrewed Traffic Management)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0782-954F-9AD4-169F-54216782D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Deconfliction and accountability when many drones (and crewed traffic) share airspace.</a:t>
            </a:r>
          </a:p>
          <a:p>
            <a:r>
              <a:rPr lang="en-US" dirty="0"/>
              <a:t>Critical because it enables flight intent submission, airspace authorization, conformance monitoring, and detect-and-avoid advisories via standardized, provider-to-provider messaging.</a:t>
            </a:r>
          </a:p>
          <a:p>
            <a:r>
              <a:rPr lang="en-US" dirty="0"/>
              <a:t>Provide flight plan acceptance/constraints, strategic deconfliction results, live advisories, Remote ID/telemetry exchange policies.</a:t>
            </a:r>
          </a:p>
          <a:p>
            <a:r>
              <a:rPr lang="en-US" b="1" dirty="0"/>
              <a:t>Use in workflow:</a:t>
            </a:r>
            <a:endParaRPr lang="en-US" dirty="0"/>
          </a:p>
          <a:p>
            <a:r>
              <a:rPr lang="en-US" b="1" dirty="0"/>
              <a:t>Pre-flight:</a:t>
            </a:r>
            <a:r>
              <a:rPr lang="en-US" dirty="0"/>
              <a:t> submit plan → receive authorization/time window/altitude limits.</a:t>
            </a:r>
          </a:p>
          <a:p>
            <a:r>
              <a:rPr lang="en-US" b="1" dirty="0"/>
              <a:t>In-flight:</a:t>
            </a:r>
            <a:r>
              <a:rPr lang="en-US" dirty="0"/>
              <a:t> stream conformance; if you deviate, get </a:t>
            </a:r>
            <a:r>
              <a:rPr lang="en-US" b="1" dirty="0"/>
              <a:t>alerts</a:t>
            </a:r>
            <a:r>
              <a:rPr lang="en-US" dirty="0"/>
              <a:t> and new constraints.</a:t>
            </a:r>
            <a:br>
              <a:rPr lang="en-US" dirty="0"/>
            </a:br>
            <a:r>
              <a:rPr lang="en-US" b="1" dirty="0"/>
              <a:t>Design tip:</a:t>
            </a:r>
            <a:r>
              <a:rPr lang="en-US" dirty="0"/>
              <a:t> UTM is </a:t>
            </a:r>
            <a:r>
              <a:rPr lang="en-US" b="1" dirty="0"/>
              <a:t>event-driven</a:t>
            </a:r>
            <a:r>
              <a:rPr lang="en-US" dirty="0"/>
              <a:t>—use </a:t>
            </a:r>
            <a:r>
              <a:rPr lang="en-US" dirty="0" err="1"/>
              <a:t>WebSockets</a:t>
            </a:r>
            <a:r>
              <a:rPr lang="en-US" dirty="0"/>
              <a:t>/pub-sub; REST is for configuration/history.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94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AE25-CED7-66EB-6575-17B09D8D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4) Weather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1544-729C-4E5E-62E8-A11FF50CF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4038"/>
            <a:ext cx="10515600" cy="450918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Quantify air risk and energy budget (wind, gusts, rain, density altitude) for go/no-go, route choice, and battery reserves.</a:t>
            </a:r>
          </a:p>
          <a:p>
            <a:r>
              <a:rPr lang="en-US" dirty="0"/>
              <a:t>Critical because wind aloft and gusts, not surface wind, often determine mission success and link reliability. Micro-weather drives energy consumption, landing distance, and GPS multipath risk in urban canyons.</a:t>
            </a:r>
          </a:p>
          <a:p>
            <a:r>
              <a:rPr lang="en-US" dirty="0"/>
              <a:t>Provide time-series by height (wind/direction/gust), precipitation, visibility, temperature/pressure (for density altitude), sometimes thunderstorm risk.</a:t>
            </a:r>
          </a:p>
          <a:p>
            <a:r>
              <a:rPr lang="en-US" b="1" dirty="0"/>
              <a:t>Use in workflow:</a:t>
            </a:r>
            <a:endParaRPr lang="en-US" dirty="0"/>
          </a:p>
          <a:p>
            <a:r>
              <a:rPr lang="en-US" b="1" dirty="0"/>
              <a:t>Pre-flight:</a:t>
            </a:r>
            <a:r>
              <a:rPr lang="en-US" dirty="0"/>
              <a:t> compute </a:t>
            </a:r>
            <a:r>
              <a:rPr lang="en-US" b="1" dirty="0"/>
              <a:t>expected </a:t>
            </a:r>
            <a:r>
              <a:rPr lang="en-US" b="1" dirty="0" err="1"/>
              <a:t>Wh</a:t>
            </a:r>
            <a:r>
              <a:rPr lang="en-US" dirty="0"/>
              <a:t> consumption vs waypoints and reserves; set </a:t>
            </a:r>
            <a:r>
              <a:rPr lang="en-US" b="1" dirty="0"/>
              <a:t>safe speed/altitude</a:t>
            </a:r>
            <a:r>
              <a:rPr lang="en-US" dirty="0"/>
              <a:t>.</a:t>
            </a:r>
          </a:p>
          <a:p>
            <a:r>
              <a:rPr lang="en-US" b="1" dirty="0"/>
              <a:t>In-flight:</a:t>
            </a:r>
            <a:r>
              <a:rPr lang="en-US" dirty="0"/>
              <a:t> update ETA, battery margin; trigger </a:t>
            </a:r>
            <a:r>
              <a:rPr lang="en-US" b="1" dirty="0"/>
              <a:t>contingency landing</a:t>
            </a:r>
            <a:r>
              <a:rPr lang="en-US" dirty="0"/>
              <a:t> if gusts exceed thresholds.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10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EC0A-D322-8883-6273-E1573527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Sensors: </a:t>
            </a:r>
            <a:r>
              <a:rPr lang="en-US" b="1" dirty="0"/>
              <a:t>GPS (GNSS)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6BD1-0381-5FE4-2556-89581EBA8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Latitude/longitude/altitude, velocity, fix quality, dilution of precision; 1–10 Hz (RTK up to 20 Hz).</a:t>
            </a:r>
          </a:p>
          <a:p>
            <a:r>
              <a:rPr lang="en-US" b="1" dirty="0"/>
              <a:t>Why complex:</a:t>
            </a:r>
            <a:r>
              <a:rPr lang="en-US" dirty="0"/>
              <a:t> Multipath/reflections near buildings, temporary outages, jumps between fixes, different altitude references (MSL vs ellipsoid).</a:t>
            </a:r>
          </a:p>
          <a:p>
            <a:r>
              <a:rPr lang="en-US" b="1" dirty="0"/>
              <a:t>Typical problems:</a:t>
            </a:r>
            <a:r>
              <a:rPr lang="en-US" dirty="0"/>
              <a:t> Missing points, sudden position “jumps”, inconsistent time bases.</a:t>
            </a:r>
          </a:p>
          <a:p>
            <a:r>
              <a:rPr lang="en-US" b="1" dirty="0"/>
              <a:t>Preprocessing tips:</a:t>
            </a:r>
            <a:endParaRPr lang="en-US" dirty="0"/>
          </a:p>
          <a:p>
            <a:pPr lvl="1"/>
            <a:r>
              <a:rPr lang="en-US" dirty="0"/>
              <a:t>Smooth with a low-pass or </a:t>
            </a:r>
            <a:r>
              <a:rPr lang="en-US" dirty="0" err="1"/>
              <a:t>Savitzky</a:t>
            </a:r>
            <a:r>
              <a:rPr lang="en-US" dirty="0"/>
              <a:t>–Golay filter for small jitter.</a:t>
            </a:r>
          </a:p>
          <a:p>
            <a:pPr lvl="1"/>
            <a:r>
              <a:rPr lang="en-US" dirty="0"/>
              <a:t>Convert to a </a:t>
            </a:r>
            <a:r>
              <a:rPr lang="en-US" b="1" dirty="0"/>
              <a:t>local frame</a:t>
            </a:r>
            <a:r>
              <a:rPr lang="en-US" dirty="0"/>
              <a:t> (ENU) for ML/controls.</a:t>
            </a:r>
          </a:p>
          <a:p>
            <a:pPr lvl="1"/>
            <a:r>
              <a:rPr lang="en-US" dirty="0"/>
              <a:t>Interpolate to a common timeline before sensor fusion.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65EC-5227-E82D-A655-46EC2A645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Sensors: IMU (accelerometer + gyroscope [+ magnetometer])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96860-0A04-C3E0-A315-A0241A67C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Accelerometer Measures linear acceleration (how fast you’re speeding up/down, left/right, up/down).</a:t>
            </a:r>
          </a:p>
          <a:p>
            <a:r>
              <a:rPr lang="en-US" dirty="0"/>
              <a:t>Gyroscope Measures angular velocity (how fast you’re rotating around each axis: roll, pitch, yaw).</a:t>
            </a:r>
          </a:p>
          <a:p>
            <a:r>
              <a:rPr lang="en-US" dirty="0"/>
              <a:t>Magnetometer Measures the Earth’s magnetic field → works like a digital compass.</a:t>
            </a:r>
          </a:p>
          <a:p>
            <a:r>
              <a:rPr lang="en-US" b="1" dirty="0"/>
              <a:t>Why complex:</a:t>
            </a:r>
            <a:r>
              <a:rPr lang="en-US" dirty="0"/>
              <a:t> High-rate, </a:t>
            </a:r>
            <a:r>
              <a:rPr lang="en-US" b="1" dirty="0"/>
              <a:t>noisy</a:t>
            </a:r>
            <a:r>
              <a:rPr lang="en-US" dirty="0"/>
              <a:t> and </a:t>
            </a:r>
            <a:r>
              <a:rPr lang="en-US" b="1" dirty="0"/>
              <a:t>biased</a:t>
            </a:r>
            <a:r>
              <a:rPr lang="en-US" dirty="0"/>
              <a:t> signals; gyros drift; hard real-time sync with other sensors.</a:t>
            </a:r>
          </a:p>
          <a:p>
            <a:r>
              <a:rPr lang="en-US" b="1" dirty="0"/>
              <a:t>Typical problems:</a:t>
            </a:r>
            <a:r>
              <a:rPr lang="en-US" dirty="0"/>
              <a:t> Bias/scale errors, integration drift, clock drift across devices.</a:t>
            </a:r>
          </a:p>
          <a:p>
            <a:r>
              <a:rPr lang="en-US" b="1" dirty="0"/>
              <a:t>Preprocessing tips:</a:t>
            </a:r>
            <a:endParaRPr lang="en-US" dirty="0"/>
          </a:p>
          <a:p>
            <a:pPr lvl="1"/>
            <a:r>
              <a:rPr lang="en-US" dirty="0"/>
              <a:t>Bias estimation on still segments; high-pass/low-pass filtering.</a:t>
            </a:r>
          </a:p>
          <a:p>
            <a:pPr lvl="1"/>
            <a:r>
              <a:rPr lang="en-US" dirty="0"/>
              <a:t>Fuse with GPS/camera via </a:t>
            </a:r>
            <a:r>
              <a:rPr lang="en-US" b="1" dirty="0"/>
              <a:t>EKF/UKF</a:t>
            </a:r>
            <a:r>
              <a:rPr lang="en-US" dirty="0"/>
              <a:t> or factor graphs to bound drift.</a:t>
            </a:r>
          </a:p>
          <a:p>
            <a:pPr lvl="1"/>
            <a:r>
              <a:rPr lang="en-US" dirty="0"/>
              <a:t>Keep everything in consistent frames (body ↔ world) using quaternions.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554C9-3445-3098-111A-9AB6E8F478B7}"/>
              </a:ext>
            </a:extLst>
          </p:cNvPr>
          <p:cNvSpPr txBox="1"/>
          <p:nvPr/>
        </p:nvSpPr>
        <p:spPr>
          <a:xfrm>
            <a:off x="207034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IMU = Inertial Measurement Unit</a:t>
            </a:r>
          </a:p>
        </p:txBody>
      </p:sp>
    </p:spTree>
    <p:extLst>
      <p:ext uri="{BB962C8B-B14F-4D97-AF65-F5344CB8AC3E}">
        <p14:creationId xmlns:p14="http://schemas.microsoft.com/office/powerpoint/2010/main" val="3531724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2EE9-A977-B413-231A-BAF39F8E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Sensors: Camera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DEE07-E5DA-A915-32A4-9615D12B7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you get:</a:t>
            </a:r>
            <a:r>
              <a:rPr lang="en-US" dirty="0"/>
              <a:t> High-bandwidth images/video (e.g., 4K@30 fps), often rolling shutter.</a:t>
            </a:r>
          </a:p>
          <a:p>
            <a:r>
              <a:rPr lang="en-US" b="1" dirty="0"/>
              <a:t>Why complex:</a:t>
            </a:r>
            <a:r>
              <a:rPr lang="en-US" dirty="0"/>
              <a:t> Huge volume, lighting changes, motion blur, lens distortion; timestamps must align with IMU for VIO/SLAM.</a:t>
            </a:r>
          </a:p>
          <a:p>
            <a:r>
              <a:rPr lang="en-US" b="1" dirty="0"/>
              <a:t>Typical problems:</a:t>
            </a:r>
            <a:r>
              <a:rPr lang="en-US" dirty="0"/>
              <a:t> Dropped frames, exposure variation, distortion, misalignment with IMU/GPS.</a:t>
            </a:r>
          </a:p>
          <a:p>
            <a:r>
              <a:rPr lang="en-US" b="1" dirty="0"/>
              <a:t>Preprocessing tips:</a:t>
            </a:r>
            <a:endParaRPr lang="en-US" dirty="0"/>
          </a:p>
          <a:p>
            <a:pPr lvl="1"/>
            <a:r>
              <a:rPr lang="en-US" dirty="0"/>
              <a:t>Undistort (known intrinsics), stabilize exposure/white balance.</a:t>
            </a:r>
          </a:p>
          <a:p>
            <a:pPr lvl="1"/>
            <a:r>
              <a:rPr lang="en-US" dirty="0"/>
              <a:t>Synchronize with IMU (hardware triggers preferred).</a:t>
            </a:r>
          </a:p>
          <a:p>
            <a:pPr lvl="1"/>
            <a:r>
              <a:rPr lang="en-US" dirty="0" err="1"/>
              <a:t>Downsample</a:t>
            </a:r>
            <a:r>
              <a:rPr lang="en-US" dirty="0"/>
              <a:t>/tiling; extract features (ORB/SIFT) if storage/bandwidth matters.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57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4B3F-914C-0F21-A75C-66EB384E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83" y="54574"/>
            <a:ext cx="10515600" cy="1325563"/>
          </a:xfrm>
        </p:spPr>
        <p:txBody>
          <a:bodyPr/>
          <a:lstStyle/>
          <a:p>
            <a:r>
              <a:rPr lang="en-US" b="1" dirty="0"/>
              <a:t>Sensors: LiDAR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8DA324-34FD-CA4F-7032-D8D0750946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4683" y="1478891"/>
            <a:ext cx="1055935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Point clouds (10⁵–10⁶ pts/frame), intensity, timestamps.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because </a:t>
            </a:r>
            <a:r>
              <a:rPr lang="en-US" altLang="en-US" dirty="0">
                <a:latin typeface="Arial" panose="020B0604020202020204" pitchFamily="34" charset="0"/>
              </a:rPr>
              <a:t>data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Very large, uneven density, moving-object artifacts, weather effects (rain/fog), reflectivity biases.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problems: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Outliers, multipath returns, mis-calibrated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extrinsics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body/camera.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tips: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 removal (statistical/RANSAC), voxel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downsampling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 segmentation; normal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Rigid alignment (ICP/NDT) to build maps; careful extrinsic calibration to camera/IMU.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39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1475</Words>
  <Application>Microsoft Office PowerPoint</Application>
  <PresentationFormat>Widescreen</PresentationFormat>
  <Paragraphs>110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Office Theme</vt:lpstr>
      <vt:lpstr>Data Collection &amp; Pre-processing</vt:lpstr>
      <vt:lpstr>Introduction: Data source design</vt:lpstr>
      <vt:lpstr>Core principles for UAV Data</vt:lpstr>
      <vt:lpstr>Core principles for UAV Data</vt:lpstr>
      <vt:lpstr>Surveys</vt:lpstr>
      <vt:lpstr>Flight telemetry APIs </vt:lpstr>
      <vt:lpstr>1) Airspace / NOTAM / TFR APIs</vt:lpstr>
      <vt:lpstr>2) Geofencing APIs </vt:lpstr>
      <vt:lpstr>3) UTM (Uncrewed Traffic Management) APIs</vt:lpstr>
      <vt:lpstr>4) Weather APIs</vt:lpstr>
      <vt:lpstr>Sensors: GPS (GNSS)</vt:lpstr>
      <vt:lpstr>Sensors: IMU (accelerometer + gyroscope [+ magnetometer]) </vt:lpstr>
      <vt:lpstr>Sensors: Camera</vt:lpstr>
      <vt:lpstr>Sensors: LiDAR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Sidharth Sharma</dc:creator>
  <cp:lastModifiedBy>Sidharth Sharma</cp:lastModifiedBy>
  <cp:revision>71</cp:revision>
  <dcterms:created xsi:type="dcterms:W3CDTF">2025-08-23T11:47:44Z</dcterms:created>
  <dcterms:modified xsi:type="dcterms:W3CDTF">2025-08-23T14:36:12Z</dcterms:modified>
</cp:coreProperties>
</file>