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  <p:sldId id="277" r:id="rId9"/>
    <p:sldId id="276" r:id="rId10"/>
    <p:sldId id="270" r:id="rId11"/>
    <p:sldId id="300" r:id="rId12"/>
    <p:sldId id="278" r:id="rId13"/>
    <p:sldId id="279" r:id="rId14"/>
    <p:sldId id="280" r:id="rId15"/>
    <p:sldId id="260" r:id="rId16"/>
    <p:sldId id="281" r:id="rId17"/>
    <p:sldId id="299" r:id="rId18"/>
    <p:sldId id="282" r:id="rId19"/>
    <p:sldId id="283" r:id="rId20"/>
    <p:sldId id="284" r:id="rId21"/>
    <p:sldId id="285" r:id="rId22"/>
    <p:sldId id="286" r:id="rId23"/>
    <p:sldId id="263" r:id="rId24"/>
    <p:sldId id="301" r:id="rId25"/>
    <p:sldId id="287" r:id="rId26"/>
    <p:sldId id="288" r:id="rId27"/>
    <p:sldId id="289" r:id="rId28"/>
    <p:sldId id="290" r:id="rId29"/>
    <p:sldId id="291" r:id="rId30"/>
    <p:sldId id="264" r:id="rId31"/>
    <p:sldId id="295" r:id="rId32"/>
    <p:sldId id="296" r:id="rId33"/>
    <p:sldId id="297" r:id="rId34"/>
    <p:sldId id="265" r:id="rId35"/>
    <p:sldId id="298" r:id="rId36"/>
    <p:sldId id="293" r:id="rId37"/>
    <p:sldId id="294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40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Classification and </a:t>
            </a:r>
            <a:r>
              <a:rPr dirty="0"/>
              <a:t>Classifiers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4164"/>
            <a:ext cx="8229600" cy="4525963"/>
          </a:xfrm>
        </p:spPr>
        <p:txBody>
          <a:bodyPr wrap="square"/>
          <a:lstStyle/>
          <a:p>
            <a:r>
              <a:rPr lang="en-IN" dirty="0"/>
              <a:t>Types Of Classification</a:t>
            </a:r>
          </a:p>
          <a:p>
            <a:r>
              <a:rPr dirty="0"/>
              <a:t>k-NN, SVM, Decision Trees</a:t>
            </a:r>
          </a:p>
          <a:p>
            <a:r>
              <a:rPr dirty="0"/>
              <a:t>Strengths, Weaknesses &amp; Picking the Right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233A-F7BC-4388-AA15-9CD442D4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Classification?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44B8-0305-6272-4F28-36F09BDC4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93792"/>
          </a:xfrm>
        </p:spPr>
        <p:txBody>
          <a:bodyPr>
            <a:normAutofit/>
          </a:bodyPr>
          <a:lstStyle/>
          <a:p>
            <a:r>
              <a:rPr lang="en-US" dirty="0"/>
              <a:t>Classification teaches a machine to sort things into categories.</a:t>
            </a:r>
          </a:p>
          <a:p>
            <a:r>
              <a:rPr lang="en-US" dirty="0"/>
              <a:t> It learns by looking at examples with labels (like emails marked "spam" or "not spam").</a:t>
            </a:r>
          </a:p>
          <a:p>
            <a:r>
              <a:rPr lang="en-US" dirty="0"/>
              <a:t> After learning, it can decide which category new items belong to, like identifying if a new email is spam or not.</a:t>
            </a:r>
          </a:p>
          <a:p>
            <a:r>
              <a:rPr lang="en-IN" dirty="0"/>
              <a:t>Examples: spam detection, disease diagnosis, object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25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A01C-A8E4-FB5F-0990-D67D7008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Types of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9263C-2C74-630E-AA94-03F00118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different types of classification problems depending on how many categories (or classes) we are working with and how they are organized. </a:t>
            </a:r>
          </a:p>
          <a:p>
            <a:r>
              <a:rPr lang="en-US" dirty="0"/>
              <a:t>There are two main classification types in machine learning:</a:t>
            </a:r>
          </a:p>
          <a:p>
            <a:pPr marL="0" indent="0" fontAlgn="base">
              <a:buNone/>
            </a:pPr>
            <a:r>
              <a:rPr lang="en-IN" b="1" dirty="0"/>
              <a:t>	</a:t>
            </a:r>
            <a:r>
              <a:rPr lang="en-IN" dirty="0"/>
              <a:t>1. Binary Classification</a:t>
            </a:r>
          </a:p>
          <a:p>
            <a:pPr marL="0" indent="0" fontAlgn="base">
              <a:buNone/>
            </a:pPr>
            <a:r>
              <a:rPr lang="en-IN" dirty="0"/>
              <a:t>	2. Multiclass Classification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06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62B2-6197-A92F-EAD2-285E7D6E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Binary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7131-4968-8E73-D661-AB54E18E3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binary classification, the goal is to sort the data into </a:t>
            </a:r>
            <a:r>
              <a:rPr lang="en-US" b="1" dirty="0"/>
              <a:t>two distinct categories</a:t>
            </a:r>
            <a:r>
              <a:rPr lang="en-US" dirty="0"/>
              <a:t>. </a:t>
            </a:r>
          </a:p>
          <a:p>
            <a:r>
              <a:rPr lang="en-US" dirty="0"/>
              <a:t>Think of it like a simple choice between two options.</a:t>
            </a:r>
          </a:p>
          <a:p>
            <a:r>
              <a:rPr lang="en-US" dirty="0"/>
              <a:t> Imagine a system that sorts emails into either </a:t>
            </a:r>
            <a:r>
              <a:rPr lang="en-US" b="1" dirty="0"/>
              <a:t>spam</a:t>
            </a:r>
            <a:r>
              <a:rPr lang="en-US" dirty="0"/>
              <a:t> or </a:t>
            </a:r>
            <a:r>
              <a:rPr lang="en-US" b="1" dirty="0"/>
              <a:t>not spam</a:t>
            </a:r>
            <a:r>
              <a:rPr lang="en-US" dirty="0"/>
              <a:t>.</a:t>
            </a:r>
          </a:p>
          <a:p>
            <a:r>
              <a:rPr lang="en-US" dirty="0"/>
              <a:t> It works by looking at </a:t>
            </a:r>
            <a:r>
              <a:rPr lang="en-US" b="1" dirty="0"/>
              <a:t>different features of the email</a:t>
            </a:r>
            <a:r>
              <a:rPr lang="en-US" dirty="0"/>
              <a:t> like certain keywords or sender details, and decides whether it’s spam or not. It only chooses between these two options.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16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AE4D-E7D6-5AAD-211D-CA4EE34C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Multiclass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820B0-C6AA-92BD-ADAF-15B1C3A33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en-US" dirty="0"/>
              <a:t>Here, instead of just two categories, the data needs to be sorted into more than two categories. The model picks the one that best matches the input. </a:t>
            </a:r>
          </a:p>
          <a:p>
            <a:pPr algn="just" fontAlgn="base"/>
            <a:r>
              <a:rPr lang="en-US" dirty="0"/>
              <a:t>Think of an image recognition system that sorts pictures of animals into categories like cat, dog, and bird.</a:t>
            </a:r>
          </a:p>
          <a:p>
            <a:pPr algn="just" fontAlgn="base"/>
            <a:r>
              <a:rPr lang="en-US" dirty="0"/>
              <a:t>Basically, machine looks at the features in the image (like shape, color, or texture) and chooses which animal the picture is most likely to be based on the training it received.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03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5FD6-5829-6E96-6601-4230FD7D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Multi-Label 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5802-7A5F-E017-A284-F4F410432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 fontAlgn="base"/>
            <a:r>
              <a:rPr lang="en-US" dirty="0"/>
              <a:t>In multi-label classification single piece of data can belong to multiple categories at once. </a:t>
            </a:r>
          </a:p>
          <a:p>
            <a:pPr algn="just" fontAlgn="base"/>
            <a:r>
              <a:rPr lang="en-US" dirty="0"/>
              <a:t>Unlike multiclass classification where each data point belongs to only one class, multi-label classification allows datapoints to belong to multiple classes.</a:t>
            </a:r>
          </a:p>
          <a:p>
            <a:pPr algn="just" fontAlgn="base"/>
            <a:r>
              <a:rPr lang="en-US" dirty="0"/>
              <a:t> A movie recommendation system could tag a movie as both action and comedy. </a:t>
            </a:r>
          </a:p>
          <a:p>
            <a:pPr algn="just" fontAlgn="base"/>
            <a:r>
              <a:rPr lang="en-US" dirty="0"/>
              <a:t>The system checks various features (like movie plot, actors, or genre tags) and assigns multiple labels to a single piece of data, rather than just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235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3BED-B2D2-93B3-1E21-BF1ACA6C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Classification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A2A97-72FB-F452-F573-0BFD84472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Now, for implementation of any classification model it is essential to understand </a:t>
            </a:r>
            <a:r>
              <a:rPr lang="en-US" b="1" dirty="0"/>
              <a:t>Logistic Regression</a:t>
            </a:r>
            <a:r>
              <a:rPr lang="en-US" dirty="0"/>
              <a:t>, which is one of the most fundamental and widely used algorithms in machine learning for classification tasks.</a:t>
            </a:r>
          </a:p>
          <a:p>
            <a:pPr marL="0" indent="0" fontAlgn="base">
              <a:buNone/>
            </a:pPr>
            <a:r>
              <a:rPr lang="en-US" dirty="0"/>
              <a:t>There are various types of </a:t>
            </a:r>
            <a:r>
              <a:rPr lang="en-US" b="1" dirty="0"/>
              <a:t>classifiers algorithms</a:t>
            </a:r>
            <a:r>
              <a:rPr lang="en-US" dirty="0"/>
              <a:t>. Some of them are : </a:t>
            </a:r>
          </a:p>
          <a:p>
            <a:pPr fontAlgn="base"/>
            <a:r>
              <a:rPr lang="en-IN" b="1" dirty="0"/>
              <a:t>Linear Classifiers</a:t>
            </a:r>
            <a:endParaRPr lang="en-US" dirty="0"/>
          </a:p>
          <a:p>
            <a:r>
              <a:rPr lang="en-IN" b="1" dirty="0"/>
              <a:t>Non-linear Classifiers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29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5598-A91D-C772-833D-64C213AA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classifier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20276-FB76-0559-6DDD-85C2E5750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US" dirty="0"/>
              <a:t>Linear classifier models create a linear decision boundary between classes. </a:t>
            </a:r>
          </a:p>
          <a:p>
            <a:pPr fontAlgn="base"/>
            <a:r>
              <a:rPr lang="en-US" dirty="0"/>
              <a:t>They are simple and computationally efficient. </a:t>
            </a:r>
          </a:p>
          <a:p>
            <a:pPr marL="0" indent="0" fontAlgn="base">
              <a:buNone/>
            </a:pPr>
            <a:r>
              <a:rPr lang="en-US" dirty="0"/>
              <a:t>Example:</a:t>
            </a:r>
          </a:p>
          <a:p>
            <a:pPr fontAlgn="base"/>
            <a:r>
              <a:rPr lang="en-US" dirty="0"/>
              <a:t>Logistic Regression</a:t>
            </a:r>
          </a:p>
          <a:p>
            <a:pPr fontAlgn="base"/>
            <a:r>
              <a:rPr lang="en-US" dirty="0"/>
              <a:t>Support Vector Machines having kernel = 'linear'</a:t>
            </a:r>
          </a:p>
          <a:p>
            <a:pPr fontAlgn="base"/>
            <a:r>
              <a:rPr lang="en-US" dirty="0"/>
              <a:t>Single-layer Perceptron</a:t>
            </a:r>
          </a:p>
          <a:p>
            <a:pPr fontAlgn="base"/>
            <a:r>
              <a:rPr lang="en-US" dirty="0"/>
              <a:t>Stochastic Gradient Descent (SGD) Classifier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06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D424-B1CA-A226-9A75-F4FCCB5B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"/>
            <a:ext cx="8229600" cy="1143000"/>
          </a:xfrm>
        </p:spPr>
        <p:txBody>
          <a:bodyPr/>
          <a:lstStyle/>
          <a:p>
            <a:r>
              <a:rPr lang="en-US" b="1" dirty="0"/>
              <a:t>Non-linear Classifiers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6B116-5B05-6F85-392A-62416D47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9576"/>
            <a:ext cx="8851392" cy="56509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Non-linear models create a non-linear decision boundary between classes. </a:t>
            </a:r>
          </a:p>
          <a:p>
            <a:r>
              <a:rPr lang="en-US" dirty="0"/>
              <a:t>They can capture more complex relationships between input features and target variable. 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IN" dirty="0"/>
              <a:t>K-Nearest Neighbours</a:t>
            </a:r>
          </a:p>
          <a:p>
            <a:pPr fontAlgn="base"/>
            <a:r>
              <a:rPr lang="en-IN" dirty="0"/>
              <a:t>Kernel SVM</a:t>
            </a:r>
          </a:p>
          <a:p>
            <a:pPr fontAlgn="base"/>
            <a:r>
              <a:rPr lang="en-IN" dirty="0"/>
              <a:t>Naive Bayes</a:t>
            </a:r>
          </a:p>
          <a:p>
            <a:pPr fontAlgn="base"/>
            <a:r>
              <a:rPr lang="en-IN" dirty="0"/>
              <a:t>Decision Tree Classification</a:t>
            </a:r>
          </a:p>
          <a:p>
            <a:pPr fontAlgn="base"/>
            <a:r>
              <a:rPr lang="en-IN" dirty="0"/>
              <a:t>Ensemble learning classifiers</a:t>
            </a:r>
          </a:p>
          <a:p>
            <a:pPr fontAlgn="base"/>
            <a:r>
              <a:rPr lang="en-IN" dirty="0"/>
              <a:t>Random Forests </a:t>
            </a:r>
          </a:p>
          <a:p>
            <a:pPr fontAlgn="base"/>
            <a:r>
              <a:rPr lang="en-IN" dirty="0"/>
              <a:t>AdaBoost</a:t>
            </a:r>
          </a:p>
          <a:p>
            <a:pPr fontAlgn="base"/>
            <a:r>
              <a:rPr lang="en-IN" dirty="0"/>
              <a:t>Voting Classifier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25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6A48-A03E-EB13-B731-A5D2543B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KNN?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9E18-8864-66AB-8060-292009516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supervised machine learning algorithm.</a:t>
            </a:r>
          </a:p>
          <a:p>
            <a:r>
              <a:rPr lang="en-US" dirty="0"/>
              <a:t>Lazy learner — no explicit training.</a:t>
            </a:r>
          </a:p>
          <a:p>
            <a:pPr lvl="1"/>
            <a:r>
              <a:rPr lang="en-US" dirty="0"/>
              <a:t>The algorithm simply </a:t>
            </a:r>
            <a:r>
              <a:rPr lang="en-US" b="1" dirty="0"/>
              <a:t>stores the entire training dataset</a:t>
            </a:r>
            <a:r>
              <a:rPr lang="en-US" dirty="0"/>
              <a:t> (features + labels).</a:t>
            </a:r>
          </a:p>
          <a:p>
            <a:r>
              <a:rPr lang="en-US" dirty="0"/>
              <a:t>Classify a new point by majority vote of its k nearest neighbors in feature space.</a:t>
            </a:r>
          </a:p>
          <a:p>
            <a:r>
              <a:rPr lang="en-US" dirty="0"/>
              <a:t>Uses a distance metric (e.g., Euclidean, Manhattan).</a:t>
            </a:r>
          </a:p>
          <a:p>
            <a:r>
              <a:rPr lang="en-US" dirty="0"/>
              <a:t>Non-parametric &amp; instance-based.​</a:t>
            </a:r>
          </a:p>
          <a:p>
            <a:pPr lvl="1"/>
            <a:r>
              <a:rPr lang="en-US" dirty="0"/>
              <a:t>It does not assume any fixed mathematical form (like a line or curve) for the data. </a:t>
            </a:r>
          </a:p>
          <a:p>
            <a:pPr lvl="1"/>
            <a:r>
              <a:rPr lang="en-US" dirty="0"/>
              <a:t>It doesn’t have a fixed number of parameters that describe the model.</a:t>
            </a:r>
          </a:p>
          <a:p>
            <a:pPr lvl="1"/>
            <a:r>
              <a:rPr lang="en-US" dirty="0"/>
              <a:t>The algorithm memorizes training examples instead of learning a general rule.</a:t>
            </a:r>
          </a:p>
          <a:p>
            <a:pPr lvl="1"/>
            <a:r>
              <a:rPr lang="en-US" dirty="0"/>
              <a:t>When a new sample comes, it compares it with stored instances to make a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2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8331-11F0-5847-92CA-70E666F4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1A9DE9-3491-716F-8411-C1D996F02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</p:spPr>
      </p:pic>
    </p:spTree>
    <p:extLst>
      <p:ext uri="{BB962C8B-B14F-4D97-AF65-F5344CB8AC3E}">
        <p14:creationId xmlns:p14="http://schemas.microsoft.com/office/powerpoint/2010/main" val="252276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A572-3B01-54B7-AAC8-5D58EB83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Does KNN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9A312-ED95-004E-D1EB-769FFAB5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new data point:</a:t>
            </a:r>
          </a:p>
          <a:p>
            <a:pPr lvl="1"/>
            <a:r>
              <a:rPr lang="en-US" dirty="0"/>
              <a:t>KNN looks at k-nearest neighbors.</a:t>
            </a:r>
          </a:p>
          <a:p>
            <a:pPr lvl="1"/>
            <a:r>
              <a:rPr lang="en-US" dirty="0"/>
              <a:t>Assigns label/class based on the majority (classification) or average (regression).</a:t>
            </a:r>
          </a:p>
          <a:p>
            <a:pPr marL="0" indent="0">
              <a:buNone/>
            </a:pPr>
            <a:r>
              <a:rPr lang="en-IN" b="1" dirty="0"/>
              <a:t>Distance Metrics in KNN</a:t>
            </a:r>
          </a:p>
          <a:p>
            <a:r>
              <a:rPr lang="en-IN" dirty="0"/>
              <a:t>Euclidean Distance  </a:t>
            </a:r>
            <a:r>
              <a:rPr lang="nn-NO" dirty="0"/>
              <a:t>(</a:t>
            </a:r>
            <a:r>
              <a:rPr lang="en-IN" dirty="0"/>
              <a:t>√</a:t>
            </a:r>
            <a:r>
              <a:rPr lang="nn-NO" dirty="0"/>
              <a:t>∑(x</a:t>
            </a:r>
            <a:r>
              <a:rPr lang="nn-NO" baseline="-25000" dirty="0"/>
              <a:t>i</a:t>
            </a:r>
            <a:r>
              <a:rPr lang="nn-NO" dirty="0"/>
              <a:t>−y</a:t>
            </a:r>
            <a:r>
              <a:rPr lang="nn-NO" baseline="-25000" dirty="0"/>
              <a:t>i</a:t>
            </a:r>
            <a:r>
              <a:rPr lang="nn-NO" dirty="0"/>
              <a:t>)</a:t>
            </a:r>
            <a:r>
              <a:rPr lang="nn-NO" baseline="30000" dirty="0"/>
              <a:t>2</a:t>
            </a:r>
            <a:r>
              <a:rPr lang="nn-NO" dirty="0"/>
              <a:t>)</a:t>
            </a:r>
          </a:p>
          <a:p>
            <a:r>
              <a:rPr lang="en-IN" dirty="0"/>
              <a:t>Manhattan Distance (</a:t>
            </a:r>
            <a:r>
              <a:rPr lang="nn-NO" dirty="0"/>
              <a:t>∑ </a:t>
            </a:r>
            <a:r>
              <a:rPr lang="en-IN" dirty="0"/>
              <a:t>|</a:t>
            </a:r>
            <a:r>
              <a:rPr lang="nn-NO" dirty="0"/>
              <a:t>(x</a:t>
            </a:r>
            <a:r>
              <a:rPr lang="nn-NO" baseline="-25000" dirty="0"/>
              <a:t>i</a:t>
            </a:r>
            <a:r>
              <a:rPr lang="nn-NO" dirty="0"/>
              <a:t>−y</a:t>
            </a:r>
            <a:r>
              <a:rPr lang="nn-NO" baseline="-25000" dirty="0"/>
              <a:t>i</a:t>
            </a:r>
            <a:r>
              <a:rPr lang="nn-NO" dirty="0"/>
              <a:t>)|)</a:t>
            </a:r>
            <a:endParaRPr lang="ar-AE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277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2466-DB2C-5875-D8B4-F7182EB6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‘k’ in KNN?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30B9-3F4D-0258-0BC0-4F851AFBF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9668"/>
            <a:ext cx="8686800" cy="48734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number of neighbors to consider (k).</a:t>
            </a:r>
          </a:p>
          <a:p>
            <a:r>
              <a:rPr lang="en-US" dirty="0"/>
              <a:t>Odd values often used to avoid ties.</a:t>
            </a:r>
          </a:p>
          <a:p>
            <a:r>
              <a:rPr lang="en-US" dirty="0"/>
              <a:t>Choosing k is critical:</a:t>
            </a:r>
          </a:p>
          <a:p>
            <a:pPr lvl="1"/>
            <a:r>
              <a:rPr lang="en-US" dirty="0"/>
              <a:t>Large k: too simple (underfitting).</a:t>
            </a:r>
          </a:p>
          <a:p>
            <a:pPr lvl="1"/>
            <a:r>
              <a:rPr lang="en-US" dirty="0"/>
              <a:t>Small k: more sensitive to noise.</a:t>
            </a:r>
          </a:p>
          <a:p>
            <a:pPr marL="0" indent="0">
              <a:buNone/>
            </a:pPr>
            <a:r>
              <a:rPr lang="en-US" b="1" dirty="0"/>
              <a:t>Choosing the Value of k</a:t>
            </a:r>
          </a:p>
          <a:p>
            <a:r>
              <a:rPr lang="en-US" dirty="0"/>
              <a:t>Cross-Validation: Test multiple k, select with best accuracy.</a:t>
            </a:r>
          </a:p>
          <a:p>
            <a:r>
              <a:rPr lang="en-US" dirty="0"/>
              <a:t>Elbow Method: Plot error rate vs. k, pick the “elbow” point.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62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577B-52A3-F58F-3CFF-33FBEDD0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Steps of the KNN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DFD2D-F10A-19B0-B463-027E34FA5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k.</a:t>
            </a:r>
          </a:p>
          <a:p>
            <a:r>
              <a:rPr lang="en-US" dirty="0"/>
              <a:t>Calculate distance from target to all dataset points.</a:t>
            </a:r>
          </a:p>
          <a:p>
            <a:r>
              <a:rPr lang="en-US" dirty="0"/>
              <a:t>Find k closest neighbors.</a:t>
            </a:r>
          </a:p>
          <a:p>
            <a:r>
              <a:rPr lang="en-US" dirty="0"/>
              <a:t>Predict:</a:t>
            </a:r>
          </a:p>
          <a:p>
            <a:pPr lvl="1"/>
            <a:r>
              <a:rPr lang="en-US" dirty="0"/>
              <a:t>Most common class (classification).</a:t>
            </a:r>
          </a:p>
          <a:p>
            <a:pPr lvl="1"/>
            <a:r>
              <a:rPr lang="en-US" dirty="0"/>
              <a:t>Average (regression).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858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k-NN - 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Strengths:</a:t>
            </a:r>
          </a:p>
          <a:p>
            <a:r>
              <a:rPr dirty="0"/>
              <a:t>Simple, intuitive, no training phase</a:t>
            </a:r>
          </a:p>
          <a:p>
            <a:r>
              <a:rPr dirty="0"/>
              <a:t> Works well for small, low-dimensional data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Weakness:</a:t>
            </a:r>
            <a:endParaRPr b="1" dirty="0"/>
          </a:p>
          <a:p>
            <a:r>
              <a:rPr dirty="0"/>
              <a:t> Slow for large datasets (distance computation)</a:t>
            </a:r>
            <a:endParaRPr lang="en-US" dirty="0"/>
          </a:p>
          <a:p>
            <a:r>
              <a:rPr lang="en-US" dirty="0"/>
              <a:t>Does not scale well</a:t>
            </a:r>
          </a:p>
          <a:p>
            <a:r>
              <a:rPr lang="en-US" dirty="0"/>
              <a:t>High storage</a:t>
            </a:r>
          </a:p>
          <a:p>
            <a:r>
              <a:rPr lang="en-US" dirty="0"/>
              <a:t>Curse of dimensionality (in high dimensions hard to find neighbors, data points become sparse)</a:t>
            </a:r>
            <a:endParaRPr dirty="0"/>
          </a:p>
          <a:p>
            <a:r>
              <a:rPr dirty="0"/>
              <a:t>Sensitive to irrelevant or unscaled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6E3E-0543-A93D-5CDA-9B76A972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Support Vector Machine (SVM)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79EAA-EA59-EA1B-81CC-FB457366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 is a supervised machine learning algorithm used for classification and regression.</a:t>
            </a:r>
          </a:p>
          <a:p>
            <a:r>
              <a:rPr lang="en-US" dirty="0"/>
              <a:t>It finds the </a:t>
            </a:r>
            <a:r>
              <a:rPr lang="en-US" i="1" dirty="0"/>
              <a:t>best boundary</a:t>
            </a:r>
            <a:r>
              <a:rPr lang="en-US" dirty="0"/>
              <a:t> (hyperplane) that separates classes in data.</a:t>
            </a:r>
          </a:p>
          <a:p>
            <a:r>
              <a:rPr lang="en-US" dirty="0"/>
              <a:t>Common uses: </a:t>
            </a:r>
            <a:r>
              <a:rPr lang="en-US" i="1" dirty="0"/>
              <a:t>spam vs. not spam</a:t>
            </a:r>
            <a:r>
              <a:rPr lang="en-US" dirty="0"/>
              <a:t>, </a:t>
            </a:r>
            <a:r>
              <a:rPr lang="en-US" i="1" dirty="0"/>
              <a:t>cat vs. dog</a:t>
            </a:r>
            <a:r>
              <a:rPr lang="en-US" dirty="0"/>
              <a:t> 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020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9B09-B841-A383-E198-1EF80062C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027EE-6182-9B82-C595-FFF4D3285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583" y="1600200"/>
            <a:ext cx="6780833" cy="4525963"/>
          </a:xfrm>
        </p:spPr>
      </p:pic>
    </p:spTree>
    <p:extLst>
      <p:ext uri="{BB962C8B-B14F-4D97-AF65-F5344CB8AC3E}">
        <p14:creationId xmlns:p14="http://schemas.microsoft.com/office/powerpoint/2010/main" val="1165900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22D8-EDA1-2AC9-CDC4-12D77E9A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675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Key Concepts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1A6D8-C3D2-0865-6098-9A30F94DE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23675"/>
                <a:ext cx="9144000" cy="5553649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Hyperplane</a:t>
                </a:r>
                <a:r>
                  <a:rPr lang="en-US" dirty="0"/>
                  <a:t>: Decision boundary represented as</a:t>
                </a:r>
              </a:p>
              <a:p>
                <a:pPr marL="0" indent="0">
                  <a:buNone/>
                </a:pPr>
                <a:r>
                  <a:rPr lang="en-US" dirty="0"/>
                  <a:t>   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i="1" dirty="0"/>
                  <a:t>Support Vectors: </a:t>
                </a:r>
                <a:r>
                  <a:rPr lang="en-US" dirty="0"/>
                  <a:t>Closest data points to the hyperplane, define the margin.</a:t>
                </a:r>
              </a:p>
              <a:p>
                <a:r>
                  <a:rPr lang="en-US" i="1" dirty="0"/>
                  <a:t>Margin:</a:t>
                </a:r>
                <a:r>
                  <a:rPr lang="en-US" dirty="0"/>
                  <a:t> Distance between the hyperplane and support vectors (maximize this).</a:t>
                </a:r>
              </a:p>
              <a:p>
                <a:r>
                  <a:rPr lang="en-US" i="1" dirty="0"/>
                  <a:t>Kernel:</a:t>
                </a:r>
                <a:r>
                  <a:rPr lang="en-US" dirty="0"/>
                  <a:t> Function to handle non-linear data by mapping it to higher dimensions.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1A6D8-C3D2-0865-6098-9A30F94DE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23675"/>
                <a:ext cx="9144000" cy="5553649"/>
              </a:xfrm>
              <a:blipFill>
                <a:blip r:embed="rId2"/>
                <a:stretch>
                  <a:fillRect l="-1533" t="-14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57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D1D7-5EB3-1857-1DBF-64452D8EE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563" y="852054"/>
            <a:ext cx="8728363" cy="5153891"/>
          </a:xfrm>
        </p:spPr>
        <p:txBody>
          <a:bodyPr>
            <a:normAutofit fontScale="62500" lnSpcReduction="20000"/>
          </a:bodyPr>
          <a:lstStyle/>
          <a:p>
            <a:r>
              <a:rPr lang="en-US" i="1" dirty="0"/>
              <a:t>Soft Margin:</a:t>
            </a:r>
            <a:r>
              <a:rPr lang="en-US" dirty="0"/>
              <a:t> Allows some misclassification, balances errors and margin width.</a:t>
            </a:r>
          </a:p>
          <a:p>
            <a:pPr lvl="1"/>
            <a:r>
              <a:rPr lang="en-US" dirty="0"/>
              <a:t>Balances between maximizing margin and minimizing classification errors.</a:t>
            </a:r>
          </a:p>
          <a:p>
            <a:pPr lvl="1"/>
            <a:r>
              <a:rPr lang="en-US" dirty="0"/>
              <a:t>Introduces a penalty for violating the margin — controlled by parameter C.</a:t>
            </a:r>
          </a:p>
          <a:p>
            <a:r>
              <a:rPr lang="en-US" i="1" dirty="0"/>
              <a:t>Hard Margin:</a:t>
            </a:r>
            <a:r>
              <a:rPr lang="en-US" dirty="0"/>
              <a:t> Perfect separation, no misclassifications.</a:t>
            </a:r>
          </a:p>
          <a:p>
            <a:pPr lvl="1"/>
            <a:r>
              <a:rPr lang="en-US" i="1" dirty="0"/>
              <a:t>Works only if data is completely separable.</a:t>
            </a:r>
          </a:p>
          <a:p>
            <a:pPr lvl="1"/>
            <a:r>
              <a:rPr lang="en-US" i="1" dirty="0"/>
              <a:t>Very sensitive to noise or outliers (a single wrong point can distort the boundary).</a:t>
            </a:r>
          </a:p>
          <a:p>
            <a:r>
              <a:rPr lang="en-US" i="1" dirty="0"/>
              <a:t>C (Regularization Term):</a:t>
            </a:r>
            <a:r>
              <a:rPr lang="en-US" dirty="0"/>
              <a:t> Controls trade-off between margin and classification errors.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controls the trade-off between </a:t>
            </a:r>
            <a:r>
              <a:rPr lang="en-US" b="1" dirty="0"/>
              <a:t>margin width</a:t>
            </a:r>
            <a:r>
              <a:rPr lang="en-US" dirty="0"/>
              <a:t> and </a:t>
            </a:r>
            <a:r>
              <a:rPr lang="en-US" b="1" dirty="0"/>
              <a:t>error tolerance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Large C</a:t>
            </a:r>
            <a:r>
              <a:rPr lang="en-US" dirty="0"/>
              <a:t> → model focuses on classifying all points correctly (narrow margin, risk of overfitting)</a:t>
            </a:r>
          </a:p>
          <a:p>
            <a:pPr lvl="1"/>
            <a:r>
              <a:rPr lang="en-US" b="1" dirty="0"/>
              <a:t>Small C</a:t>
            </a:r>
            <a:r>
              <a:rPr lang="en-US" dirty="0"/>
              <a:t> → allows more errors for a smoother, wider margin (better generalization)</a:t>
            </a:r>
          </a:p>
          <a:p>
            <a:r>
              <a:rPr lang="en-US" i="1" dirty="0"/>
              <a:t>Hinge Loss: </a:t>
            </a:r>
            <a:r>
              <a:rPr lang="en-US" dirty="0"/>
              <a:t>Loss function penalizing margin violations.</a:t>
            </a:r>
          </a:p>
          <a:p>
            <a:pPr lvl="1"/>
            <a:r>
              <a:rPr lang="en-US" dirty="0"/>
              <a:t>If a point is correctly classified and far from the margin → loss = 0</a:t>
            </a:r>
          </a:p>
          <a:p>
            <a:pPr lvl="1"/>
            <a:r>
              <a:rPr lang="en-US" dirty="0"/>
              <a:t>If it’s inside or on the wrong side of the margin → loss increases linearly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628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A2EF-131C-5D0E-EEE4-6B263B8E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Does SVM Work?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11749-76D5-F024-57E7-80CC23DC8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SVM finds a hyperplane that maximizes the margin between two classes.</a:t>
            </a:r>
          </a:p>
          <a:p>
            <a:r>
              <a:rPr lang="en-US" dirty="0"/>
              <a:t>Supports outliers by ignoring or softly penalizing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76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12D1-5305-4083-FCC7-C34FB06C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SVM with Non-Linearly Separable Data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4C65-22CC-F464-1B11-70946C5C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data isn't linearly separable, kernels are used.</a:t>
            </a:r>
          </a:p>
          <a:p>
            <a:r>
              <a:rPr lang="en-US" dirty="0"/>
              <a:t>Kernel Trick: Maps data to higher dimensions to make it separable.</a:t>
            </a:r>
          </a:p>
          <a:p>
            <a:pPr lvl="1"/>
            <a:r>
              <a:rPr lang="en-US" dirty="0"/>
              <a:t>Examples: Linear, Polynomial, RBF kernels.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635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DCDB-82ED-C1E2-5164-54CF7D61E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27" y="812799"/>
            <a:ext cx="8700654" cy="66871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Strengths:</a:t>
            </a:r>
          </a:p>
          <a:p>
            <a:r>
              <a:rPr lang="en-US" dirty="0"/>
              <a:t>Performs well in high-dimensional spaces.</a:t>
            </a:r>
          </a:p>
          <a:p>
            <a:r>
              <a:rPr lang="en-US" dirty="0"/>
              <a:t>Handles nonlinear data with kernels.</a:t>
            </a:r>
          </a:p>
          <a:p>
            <a:r>
              <a:rPr lang="en-US" dirty="0"/>
              <a:t>Robust to outliers with soft margin.</a:t>
            </a:r>
          </a:p>
          <a:p>
            <a:r>
              <a:rPr lang="en-US" dirty="0"/>
              <a:t>Supports binary and multiclass classification.</a:t>
            </a:r>
          </a:p>
          <a:p>
            <a:r>
              <a:rPr lang="en-US" dirty="0"/>
              <a:t>Efficient memory usage.</a:t>
            </a:r>
          </a:p>
          <a:p>
            <a:pPr marL="0" indent="0">
              <a:buNone/>
            </a:pPr>
            <a:r>
              <a:rPr lang="en-US" b="1" dirty="0"/>
              <a:t>Weakness:</a:t>
            </a:r>
          </a:p>
          <a:p>
            <a:r>
              <a:rPr lang="en-US" dirty="0"/>
              <a:t>Slow training on large datasets.</a:t>
            </a:r>
          </a:p>
          <a:p>
            <a:r>
              <a:rPr lang="en-US" dirty="0"/>
              <a:t>Choosing right kernel &amp; parameters can be tricky</a:t>
            </a:r>
          </a:p>
          <a:p>
            <a:r>
              <a:rPr lang="en-US" dirty="0"/>
              <a:t>Sensitive to noise and scaling of features.</a:t>
            </a:r>
          </a:p>
          <a:p>
            <a:r>
              <a:rPr lang="en-US" dirty="0"/>
              <a:t>Less interpretable than simpler models.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72DAD-AD13-BF9D-0A53-8B7DCE5BF712}"/>
              </a:ext>
            </a:extLst>
          </p:cNvPr>
          <p:cNvSpPr txBox="1"/>
          <p:nvPr/>
        </p:nvSpPr>
        <p:spPr>
          <a:xfrm>
            <a:off x="286327" y="193839"/>
            <a:ext cx="857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SVM - Strengths &amp; Weaknesses</a:t>
            </a:r>
          </a:p>
        </p:txBody>
      </p:sp>
    </p:spTree>
    <p:extLst>
      <p:ext uri="{BB962C8B-B14F-4D97-AF65-F5344CB8AC3E}">
        <p14:creationId xmlns:p14="http://schemas.microsoft.com/office/powerpoint/2010/main" val="3790642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Decision Tree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dirty="0"/>
              <a:t>Tree-structured model that splits data based on feature conditions</a:t>
            </a:r>
            <a:endParaRPr lang="en-IN" dirty="0"/>
          </a:p>
          <a:p>
            <a:r>
              <a:rPr lang="en-US" dirty="0"/>
              <a:t>Used in machine learning for classification and prediction</a:t>
            </a:r>
            <a:endParaRPr dirty="0"/>
          </a:p>
          <a:p>
            <a:r>
              <a:rPr dirty="0"/>
              <a:t>Splits chosen using Information Gain or Gini Index</a:t>
            </a:r>
          </a:p>
          <a:p>
            <a:r>
              <a:rPr dirty="0"/>
              <a:t>Example: If Age &lt; 18 → Student, Else If Income &gt; 50k → Professional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CE93-FB13-9382-719E-36491038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EEABB9C-9BE3-0A8B-84E7-CC99044D1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36" y="2232819"/>
            <a:ext cx="9109764" cy="2588304"/>
          </a:xfrm>
        </p:spPr>
      </p:pic>
    </p:spTree>
    <p:extLst>
      <p:ext uri="{BB962C8B-B14F-4D97-AF65-F5344CB8AC3E}">
        <p14:creationId xmlns:p14="http://schemas.microsoft.com/office/powerpoint/2010/main" val="3668281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613F-3809-072B-4DBA-5A2311AA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Structure of a Decision Tree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7577-A9AC-A717-E490-7FA2E1CB1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i="1" dirty="0"/>
              <a:t>Root Node: </a:t>
            </a:r>
            <a:r>
              <a:rPr lang="en-US" dirty="0"/>
              <a:t>Represents the whole dataset</a:t>
            </a:r>
          </a:p>
          <a:p>
            <a:r>
              <a:rPr lang="en-US" i="1" dirty="0"/>
              <a:t>Branches:</a:t>
            </a:r>
            <a:r>
              <a:rPr lang="en-US" dirty="0"/>
              <a:t> Show flow from one decision to another</a:t>
            </a:r>
          </a:p>
          <a:p>
            <a:r>
              <a:rPr lang="en-US" i="1" dirty="0"/>
              <a:t>Internal Nodes:</a:t>
            </a:r>
            <a:r>
              <a:rPr lang="en-US" dirty="0"/>
              <a:t> Decision points based on features</a:t>
            </a:r>
          </a:p>
          <a:p>
            <a:r>
              <a:rPr lang="en-US" i="1" dirty="0"/>
              <a:t>Leaf Nodes:</a:t>
            </a:r>
            <a:r>
              <a:rPr lang="en-US" dirty="0"/>
              <a:t> Final decision or prediction</a:t>
            </a:r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Decision Trees naturally </a:t>
            </a:r>
            <a:r>
              <a:rPr lang="en-US" b="1" dirty="0">
                <a:solidFill>
                  <a:schemeClr val="tx2"/>
                </a:solidFill>
              </a:rPr>
              <a:t>keep splitting</a:t>
            </a:r>
            <a:r>
              <a:rPr lang="en-US" dirty="0">
                <a:solidFill>
                  <a:schemeClr val="tx2"/>
                </a:solidFill>
              </a:rPr>
              <a:t> until every leaf is pure (all samples belong to one class).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880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F5BA-4D91-7816-58E4-1F1AB51E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Decision Trees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5268-F869-B743-DE0C-1C92133ED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Trees: Predict categorical outcomes (e.g., spam/not spam)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Regression Trees: Predict continuous outcomes (e.g., house prices)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820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726B5-C521-1B65-E3FB-517350962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Decision Trees Work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AFB0-1B3E-DF16-1EEF-A7B772E4F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root question</a:t>
            </a:r>
          </a:p>
          <a:p>
            <a:r>
              <a:rPr lang="en-US" dirty="0"/>
              <a:t>Ask yes/no questions to split data into subsets</a:t>
            </a:r>
          </a:p>
          <a:p>
            <a:r>
              <a:rPr lang="en-US" dirty="0"/>
              <a:t>Branching continues until reaching a leaf node (final prediction)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886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E5CE-D66A-FA09-DA7D-79D3EEC3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Splitting Criteria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8986-465E-B03F-C50C-5C65D8968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Gini Impurity: Measures how well a feature distinguishes between categories</a:t>
            </a:r>
          </a:p>
          <a:p>
            <a:r>
              <a:rPr lang="en-US" dirty="0"/>
              <a:t>Entropy: Measures uncertainty/disorder; reduces by splitting on informative features</a:t>
            </a:r>
          </a:p>
          <a:p>
            <a:pPr lvl="1"/>
            <a:r>
              <a:rPr lang="en-US" dirty="0"/>
              <a:t>We need to find a state that gives minimum entropy</a:t>
            </a:r>
          </a:p>
          <a:p>
            <a:r>
              <a:rPr lang="en-IN" dirty="0"/>
              <a:t>Model traverses every possible feature and feature value to find the best split.</a:t>
            </a:r>
          </a:p>
          <a:p>
            <a:r>
              <a:rPr lang="en-IN" dirty="0"/>
              <a:t>Decision tree is a greedy algorithm:</a:t>
            </a:r>
          </a:p>
          <a:p>
            <a:pPr lvl="1"/>
            <a:r>
              <a:rPr lang="en-IN" dirty="0"/>
              <a:t>Not guarantee optimal splits</a:t>
            </a:r>
          </a:p>
          <a:p>
            <a:pPr lvl="1"/>
            <a:r>
              <a:rPr lang="en-IN" dirty="0"/>
              <a:t>Future splits depend upon previous splits</a:t>
            </a:r>
          </a:p>
        </p:txBody>
      </p:sp>
    </p:spTree>
    <p:extLst>
      <p:ext uri="{BB962C8B-B14F-4D97-AF65-F5344CB8AC3E}">
        <p14:creationId xmlns:p14="http://schemas.microsoft.com/office/powerpoint/2010/main" val="1291709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B3D9-EEBD-D541-E659-F98EE61F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Pruning in Decision Trees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3BBBD-5816-D4A6-8F74-D8DD4CE6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a tree is grown deeply, it can memorize training data (overfitting).</a:t>
            </a:r>
          </a:p>
          <a:p>
            <a:r>
              <a:rPr lang="en-US" dirty="0"/>
              <a:t>Pruning helps it focus only on the most important splits that generalize well to new data.</a:t>
            </a:r>
          </a:p>
          <a:p>
            <a:r>
              <a:rPr lang="en-US" dirty="0"/>
              <a:t>Removes branches with little predictive power.</a:t>
            </a:r>
          </a:p>
          <a:p>
            <a:r>
              <a:rPr lang="en-US" dirty="0"/>
              <a:t>Helps tree generalize better, improving performance on new data</a:t>
            </a:r>
          </a:p>
          <a:p>
            <a:r>
              <a:rPr lang="en-US" dirty="0"/>
              <a:t>Makes the model simpler and faster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Pre-pruning</a:t>
            </a:r>
          </a:p>
          <a:p>
            <a:pPr lvl="1"/>
            <a:r>
              <a:rPr lang="en-US" dirty="0"/>
              <a:t>Post-pruning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883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Decision Tree - Strengths &amp;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en-IN" b="1" dirty="0"/>
              <a:t>Strengths:</a:t>
            </a:r>
          </a:p>
          <a:p>
            <a:r>
              <a:rPr dirty="0"/>
              <a:t>Easy to interpret &amp; visualize</a:t>
            </a:r>
          </a:p>
          <a:p>
            <a:r>
              <a:rPr dirty="0"/>
              <a:t>Handles numeric &amp; categorical data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Weakness:</a:t>
            </a:r>
            <a:endParaRPr b="1" dirty="0"/>
          </a:p>
          <a:p>
            <a:r>
              <a:rPr dirty="0"/>
              <a:t>Prone to overfitting if not pruned</a:t>
            </a:r>
          </a:p>
          <a:p>
            <a:r>
              <a:rPr dirty="0"/>
              <a:t>Unstable to small data changes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7FDF-8AA3-D77E-82BC-0BDE28F4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K-NN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A5296-6E08-7B48-D057-EE622B2EA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261742"/>
              </p:ext>
            </p:extLst>
          </p:nvPr>
        </p:nvGraphicFramePr>
        <p:xfrm>
          <a:off x="457200" y="2204198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44489682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44862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Why k-NN Works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083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Recommendation Systems (e.g., similar users/items)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Finds similarity between users or products naturally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88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Pattern recognition / image classification (small dataset)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similarity in features → accurate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92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Anomaly or outlier detection (small-to-medium data)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Distance-based detection of “unusual”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546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Medical diagnosis with few samples (e.g., k-NN on lab results)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Works well when number of features is moderate and structure is clear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51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05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77FE-E543-4B1D-1AFD-0487D6E3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8BF3F-90A9-A602-507E-0D0310171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329319"/>
              </p:ext>
            </p:extLst>
          </p:nvPr>
        </p:nvGraphicFramePr>
        <p:xfrm>
          <a:off x="457200" y="1645920"/>
          <a:ext cx="8229600" cy="35661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20791826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15459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Why SVM Works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755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Text classification (spam, sentiment, news categorization)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High-dimensional sparse features; linear SVM performs excellently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424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Image recognition (e.g., face vs. non-face)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capture complex boundaries with RBF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44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Bioinformatics / gene expression data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Few samples, many features → SVM handles this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052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Handwriting or digit recognition (MNIST-scale)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RBF kernel separates curved, complex boundaries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68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Small–medium tabular data with clear separation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Margin-maximization gives robust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52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007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8BAC-B340-A080-15FD-F9A074ED9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0D49BA-52F4-C3A6-0B5A-4E9D4D107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80363"/>
              </p:ext>
            </p:extLst>
          </p:nvPr>
        </p:nvGraphicFramePr>
        <p:xfrm>
          <a:off x="457200" y="1720872"/>
          <a:ext cx="8229600" cy="4114800"/>
        </p:xfrm>
        <a:graphic>
          <a:graphicData uri="http://schemas.openxmlformats.org/drawingml/2006/table">
            <a:tbl>
              <a:tblPr/>
              <a:tblGrid>
                <a:gridCol w="5020967">
                  <a:extLst>
                    <a:ext uri="{9D8B030D-6E8A-4147-A177-3AD203B41FA5}">
                      <a16:colId xmlns:a16="http://schemas.microsoft.com/office/drawing/2014/main" val="1895062065"/>
                    </a:ext>
                  </a:extLst>
                </a:gridCol>
                <a:gridCol w="3208633">
                  <a:extLst>
                    <a:ext uri="{9D8B030D-6E8A-4147-A177-3AD203B41FA5}">
                      <a16:colId xmlns:a16="http://schemas.microsoft.com/office/drawing/2014/main" val="2915346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Why Decision Tree Works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236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Business decision modeling (e.g., loan approval, churn prediction)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to interpret — “if-else” rules understandable by non-experts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61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Medical diagnosis and risk assessment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 and interpretable logic (e.g., “if BP&gt;140 and Age&gt;50 → high risk”)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500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Customer segmentation / marketing analytics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Handles mixed numeric + categorical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530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Fraud detection (with class imbalance)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Handles non-linear relationships and variable interactions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75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 base model for Random Forest / Gradient Boosted Trees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Forms the foundation of ensemble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9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344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k-NN → Lazy learner, sensitive to scale</a:t>
            </a:r>
          </a:p>
          <a:p>
            <a:r>
              <a:rPr dirty="0"/>
              <a:t>SVM → Strong margins, works well in high dimensions</a:t>
            </a:r>
          </a:p>
          <a:p>
            <a:r>
              <a:rPr dirty="0"/>
              <a:t>Decision Tree → Intuitive, may overfit</a:t>
            </a:r>
          </a:p>
          <a:p>
            <a:r>
              <a:rPr dirty="0"/>
              <a:t>Feature scaling needed: k-NN &amp; SVM (Yes), Decision Tree (No)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D0A8-D99C-5010-2E41-CAA9A889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94B7DA-BB00-D85D-9B49-3913DA515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276457"/>
              </p:ext>
            </p:extLst>
          </p:nvPr>
        </p:nvGraphicFramePr>
        <p:xfrm>
          <a:off x="578504" y="1600200"/>
          <a:ext cx="7986992" cy="4504502"/>
        </p:xfrm>
        <a:graphic>
          <a:graphicData uri="http://schemas.openxmlformats.org/drawingml/2006/table">
            <a:tbl>
              <a:tblPr/>
              <a:tblGrid>
                <a:gridCol w="1996748">
                  <a:extLst>
                    <a:ext uri="{9D8B030D-6E8A-4147-A177-3AD203B41FA5}">
                      <a16:colId xmlns:a16="http://schemas.microsoft.com/office/drawing/2014/main" val="1130665669"/>
                    </a:ext>
                  </a:extLst>
                </a:gridCol>
                <a:gridCol w="1996748">
                  <a:extLst>
                    <a:ext uri="{9D8B030D-6E8A-4147-A177-3AD203B41FA5}">
                      <a16:colId xmlns:a16="http://schemas.microsoft.com/office/drawing/2014/main" val="218926167"/>
                    </a:ext>
                  </a:extLst>
                </a:gridCol>
                <a:gridCol w="1996748">
                  <a:extLst>
                    <a:ext uri="{9D8B030D-6E8A-4147-A177-3AD203B41FA5}">
                      <a16:colId xmlns:a16="http://schemas.microsoft.com/office/drawing/2014/main" val="1108889501"/>
                    </a:ext>
                  </a:extLst>
                </a:gridCol>
                <a:gridCol w="1996748">
                  <a:extLst>
                    <a:ext uri="{9D8B030D-6E8A-4147-A177-3AD203B41FA5}">
                      <a16:colId xmlns:a16="http://schemas.microsoft.com/office/drawing/2014/main" val="3771768864"/>
                    </a:ext>
                  </a:extLst>
                </a:gridCol>
              </a:tblGrid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Criterion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k-NN</a:t>
                      </a:r>
                      <a:endParaRPr lang="en-US" sz="1700">
                        <a:solidFill>
                          <a:schemeClr val="tx2"/>
                        </a:solidFill>
                      </a:endParaRP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SVM</a:t>
                      </a:r>
                      <a:endParaRPr lang="en-US" sz="1700">
                        <a:solidFill>
                          <a:schemeClr val="tx2"/>
                        </a:solidFill>
                      </a:endParaRP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Decision Tree</a:t>
                      </a:r>
                      <a:endParaRPr lang="en-US" sz="1700" dirty="0">
                        <a:solidFill>
                          <a:schemeClr val="tx2"/>
                        </a:solidFill>
                      </a:endParaRP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8054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Data size</a:t>
                      </a:r>
                      <a:endParaRPr lang="en-US" sz="1700" dirty="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Small–Medium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Small–Medium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Small–Large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41017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Feature type</a:t>
                      </a:r>
                      <a:endParaRPr lang="en-US" sz="1700" dirty="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(scaled)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/ text (sparse OK)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+ Categorical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72853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Interpretability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Low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High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676971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Training time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Very fast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Medium–High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Fast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312874"/>
                  </a:ext>
                </a:extLst>
              </a:tr>
              <a:tr h="354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Prediction time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Slow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Medium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Fast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645455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Handles Non-linear patterns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Moderate (via distance)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Excellent (via kernel)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Good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258930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Works with high-dimensional data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Poor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Excellent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Fair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420198"/>
                  </a:ext>
                </a:extLst>
              </a:tr>
              <a:tr h="759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Best suited for</a:t>
                      </a:r>
                      <a:endParaRPr lang="en-US" sz="17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Similarity-based problems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Clear margin or high-dimensional problems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Human-interpretable rule-based problems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71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530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32F9-3D80-74D5-2234-DB950EE7B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which 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136CD-8913-7E06-D0AB-5AF3FF2E1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dataset + simple boundaries → k-NN</a:t>
            </a:r>
          </a:p>
          <a:p>
            <a:r>
              <a:rPr lang="en-US" dirty="0"/>
              <a:t>Complex but clean data + margin separation → SVM</a:t>
            </a:r>
          </a:p>
          <a:p>
            <a:r>
              <a:rPr lang="en-US" dirty="0"/>
              <a:t>Need explainability → Decision Tree</a:t>
            </a:r>
          </a:p>
          <a:p>
            <a:r>
              <a:rPr lang="en-US" dirty="0"/>
              <a:t>Many categorical features → Decision Tree</a:t>
            </a:r>
          </a:p>
          <a:p>
            <a:r>
              <a:rPr lang="en-US" dirty="0"/>
              <a:t>Very large dataset → Tree-based ensembles or Logistic Regression</a:t>
            </a:r>
          </a:p>
          <a:p>
            <a:r>
              <a:rPr lang="en-US" dirty="0"/>
              <a:t>Noisy or high-dimensional → Avoid k-NN</a:t>
            </a:r>
          </a:p>
        </p:txBody>
      </p:sp>
    </p:spTree>
    <p:extLst>
      <p:ext uri="{BB962C8B-B14F-4D97-AF65-F5344CB8AC3E}">
        <p14:creationId xmlns:p14="http://schemas.microsoft.com/office/powerpoint/2010/main" val="1645033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4ACA-A344-1D9E-3DEF-95B84174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65D06-8386-D80A-094E-86491693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scale features for k-NN and SVM</a:t>
            </a:r>
          </a:p>
          <a:p>
            <a:r>
              <a:rPr lang="en-US" dirty="0"/>
              <a:t>Use cross-validation to tune hyperparameters (k, kernel, tree depth)</a:t>
            </a:r>
          </a:p>
          <a:p>
            <a:r>
              <a:rPr lang="en-US" dirty="0"/>
              <a:t>Compare using ROC-AUC or F1-score (not just accuracy)</a:t>
            </a:r>
          </a:p>
          <a:p>
            <a:r>
              <a:rPr lang="en-US" dirty="0"/>
              <a:t>Combine models → e.g., Random Forest (many trees), Voting Classifiers</a:t>
            </a:r>
          </a:p>
        </p:txBody>
      </p:sp>
    </p:spTree>
    <p:extLst>
      <p:ext uri="{BB962C8B-B14F-4D97-AF65-F5344CB8AC3E}">
        <p14:creationId xmlns:p14="http://schemas.microsoft.com/office/powerpoint/2010/main" val="3253830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2120</Words>
  <Application>Microsoft Office PowerPoint</Application>
  <PresentationFormat>On-screen Show (4:3)</PresentationFormat>
  <Paragraphs>280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 Math</vt:lpstr>
      <vt:lpstr>Office Theme</vt:lpstr>
      <vt:lpstr>Classification and Classifiers Overview</vt:lpstr>
      <vt:lpstr>What is Classification?</vt:lpstr>
      <vt:lpstr>Types of Classification</vt:lpstr>
      <vt:lpstr>Binary Classification</vt:lpstr>
      <vt:lpstr>Multiclass Classification</vt:lpstr>
      <vt:lpstr>Multi-Label Classification</vt:lpstr>
      <vt:lpstr>Classification Algorithms</vt:lpstr>
      <vt:lpstr>Linear classifier</vt:lpstr>
      <vt:lpstr>Non-linear Classifiers</vt:lpstr>
      <vt:lpstr>What is KNN?</vt:lpstr>
      <vt:lpstr>K-NN Classification</vt:lpstr>
      <vt:lpstr>How Does KNN Work?</vt:lpstr>
      <vt:lpstr>‘k’ in KNN?</vt:lpstr>
      <vt:lpstr>Steps of the KNN Algorithm</vt:lpstr>
      <vt:lpstr>k-NN - Strengths &amp; Weaknesses</vt:lpstr>
      <vt:lpstr>Support Vector Machine (SVM)</vt:lpstr>
      <vt:lpstr>SVM</vt:lpstr>
      <vt:lpstr>Key Concepts</vt:lpstr>
      <vt:lpstr>PowerPoint Presentation</vt:lpstr>
      <vt:lpstr>How Does SVM Work?</vt:lpstr>
      <vt:lpstr>SVM with Non-Linearly Separable Data</vt:lpstr>
      <vt:lpstr>PowerPoint Presentation</vt:lpstr>
      <vt:lpstr>Decision Tree - Concept</vt:lpstr>
      <vt:lpstr>Decision Trees</vt:lpstr>
      <vt:lpstr>Structure of a Decision Tree</vt:lpstr>
      <vt:lpstr>Types of Decision Trees</vt:lpstr>
      <vt:lpstr>How Decision Trees Work</vt:lpstr>
      <vt:lpstr>Splitting Criteria</vt:lpstr>
      <vt:lpstr>Pruning in Decision Trees</vt:lpstr>
      <vt:lpstr>Decision Tree - Strengths &amp; Weaknesses</vt:lpstr>
      <vt:lpstr>K-NN use cases</vt:lpstr>
      <vt:lpstr>SVM Use Cases</vt:lpstr>
      <vt:lpstr>Decision Tree Use cases</vt:lpstr>
      <vt:lpstr>Comparison of Classifiers</vt:lpstr>
      <vt:lpstr>Comparison Table</vt:lpstr>
      <vt:lpstr>When to use which one?</vt:lpstr>
      <vt:lpstr>Practical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 Sharma</cp:lastModifiedBy>
  <cp:revision>58</cp:revision>
  <dcterms:created xsi:type="dcterms:W3CDTF">2013-01-27T09:14:16Z</dcterms:created>
  <dcterms:modified xsi:type="dcterms:W3CDTF">2025-10-22T15:28:16Z</dcterms:modified>
  <cp:category/>
</cp:coreProperties>
</file>